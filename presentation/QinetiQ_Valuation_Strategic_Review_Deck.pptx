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5.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6.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7.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4c2e60e48b546f7" /><Relationship Type="http://schemas.openxmlformats.org/officeDocument/2006/relationships/extended-properties" Target="/docProps/app.xml" Id="Rdc3b238a1003467f" /><Relationship Type="http://schemas.openxmlformats.org/officeDocument/2006/relationships/officeDocument" Target="/ppt/presentation.xml" Id="R05526fc917b34c6c" /></Relationships>
</file>

<file path=ppt/presentation.xml><?xml version="1.0" encoding="utf-8"?>
<p:presentation xmlns:p="http://schemas.openxmlformats.org/presentationml/2006/main">
  <p:sldMasterIdLst>
    <p:sldMasterId xmlns:r="http://schemas.openxmlformats.org/officeDocument/2006/relationships" id="2147483648" r:id="R21cfaf34013945ca"/>
  </p:sldMasterIdLst>
  <p:notesMasterIdLst>
    <p:notesMasterId xmlns:r="http://schemas.openxmlformats.org/officeDocument/2006/relationships" r:id="R96ee42d9ca654c7e"/>
  </p:notesMasterIdLst>
  <p:sldIdLst>
    <p:sldId xmlns:r="http://schemas.openxmlformats.org/officeDocument/2006/relationships" id="256" r:id="R6cdb4d3ce9d241fd"/>
    <p:sldId xmlns:r="http://schemas.openxmlformats.org/officeDocument/2006/relationships" id="257" r:id="R648b25539d8d4450"/>
    <p:sldId xmlns:r="http://schemas.openxmlformats.org/officeDocument/2006/relationships" id="258" r:id="R37afeb2ecc0749cd"/>
    <p:sldId xmlns:r="http://schemas.openxmlformats.org/officeDocument/2006/relationships" id="259" r:id="Reb176b1831fb47a9"/>
    <p:sldId xmlns:r="http://schemas.openxmlformats.org/officeDocument/2006/relationships" id="260" r:id="Re35643d3f8e64064"/>
    <p:sldId xmlns:r="http://schemas.openxmlformats.org/officeDocument/2006/relationships" id="261" r:id="R2646c6ec0595430c"/>
    <p:sldId xmlns:r="http://schemas.openxmlformats.org/officeDocument/2006/relationships" id="262" r:id="R49b4dad247c942c8"/>
    <p:sldId xmlns:r="http://schemas.openxmlformats.org/officeDocument/2006/relationships" id="263" r:id="R66c45b5d844d4740"/>
    <p:sldId xmlns:r="http://schemas.openxmlformats.org/officeDocument/2006/relationships" id="264" r:id="R7c07b758931f4c99"/>
    <p:sldId xmlns:r="http://schemas.openxmlformats.org/officeDocument/2006/relationships" id="265" r:id="R21a991be9c2045d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7eaeade4ac34146" /><Relationship Type="http://schemas.openxmlformats.org/officeDocument/2006/relationships/slideMaster" Target="/ppt/slideMasters/slideMaster1.xml" Id="R21cfaf34013945ca" /><Relationship Type="http://schemas.openxmlformats.org/officeDocument/2006/relationships/notesMaster" Target="/ppt/notesMasters/notesMaster1.xml" Id="R96ee42d9ca654c7e" /><Relationship Type="http://schemas.openxmlformats.org/officeDocument/2006/relationships/presProps" Target="/ppt/presProps.xml" Id="R38460bd482154cd2" /><Relationship Type="http://schemas.openxmlformats.org/officeDocument/2006/relationships/tableStyles" Target="/ppt/tableStyles.xml" Id="Rc416b405e08944df" /><Relationship Type="http://schemas.openxmlformats.org/officeDocument/2006/relationships/slide" Target="/ppt/slides/slide1.xml" Id="R6cdb4d3ce9d241fd" /><Relationship Type="http://schemas.openxmlformats.org/officeDocument/2006/relationships/slide" Target="/ppt/slides/slide2.xml" Id="R648b25539d8d4450" /><Relationship Type="http://schemas.openxmlformats.org/officeDocument/2006/relationships/slide" Target="/ppt/slides/slide3.xml" Id="R37afeb2ecc0749cd" /><Relationship Type="http://schemas.openxmlformats.org/officeDocument/2006/relationships/slide" Target="/ppt/slides/slide4.xml" Id="Reb176b1831fb47a9" /><Relationship Type="http://schemas.openxmlformats.org/officeDocument/2006/relationships/slide" Target="/ppt/slides/slide5.xml" Id="Re35643d3f8e64064" /><Relationship Type="http://schemas.openxmlformats.org/officeDocument/2006/relationships/slide" Target="/ppt/slides/slide6.xml" Id="R2646c6ec0595430c" /><Relationship Type="http://schemas.openxmlformats.org/officeDocument/2006/relationships/slide" Target="/ppt/slides/slide7.xml" Id="R49b4dad247c942c8" /><Relationship Type="http://schemas.openxmlformats.org/officeDocument/2006/relationships/slide" Target="/ppt/slides/slide8.xml" Id="R66c45b5d844d4740" /><Relationship Type="http://schemas.openxmlformats.org/officeDocument/2006/relationships/slide" Target="/ppt/slides/slide9.xml" Id="R7c07b758931f4c99" /><Relationship Type="http://schemas.openxmlformats.org/officeDocument/2006/relationships/slide" Target="/ppt/slides/slide10.xml" Id="R21a991be9c2045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75e91a309854d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c21e094c004721" /><Relationship Type="http://schemas.openxmlformats.org/officeDocument/2006/relationships/notesMaster" Target="/ppt/notesMasters/notesMaster1.xml" Id="R59057529e2ca40b7" /></Relationships>
</file>

<file path=ppt/notesSlides/_rels/notesSlide2.xml.rels>&#65279;<?xml version="1.0" encoding="utf-8"?><Relationships xmlns="http://schemas.openxmlformats.org/package/2006/relationships"><Relationship Type="http://schemas.openxmlformats.org/officeDocument/2006/relationships/slide" Target="/ppt/slides/slide2.xml" Id="R48b2fcf45d4a4c8e" /><Relationship Type="http://schemas.openxmlformats.org/officeDocument/2006/relationships/notesMaster" Target="/ppt/notesMasters/notesMaster1.xml" Id="Rbe7bd78692584fab" /></Relationships>
</file>

<file path=ppt/notesSlides/_rels/notesSlide3.xml.rels>&#65279;<?xml version="1.0" encoding="utf-8"?><Relationships xmlns="http://schemas.openxmlformats.org/package/2006/relationships"><Relationship Type="http://schemas.openxmlformats.org/officeDocument/2006/relationships/slide" Target="/ppt/slides/slide3.xml" Id="R60475972d65f4866" /><Relationship Type="http://schemas.openxmlformats.org/officeDocument/2006/relationships/notesMaster" Target="/ppt/notesMasters/notesMaster1.xml" Id="R9d0e653d7256457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e9e37107f8a47b6" /><Relationship Type="http://schemas.openxmlformats.org/officeDocument/2006/relationships/notesMaster" Target="/ppt/notesMasters/notesMaster1.xml" Id="R47f3a40dd8984b7d" /></Relationships>
</file>

<file path=ppt/notesSlides/_rels/notesSlide5.xml.rels>&#65279;<?xml version="1.0" encoding="utf-8"?><Relationships xmlns="http://schemas.openxmlformats.org/package/2006/relationships"><Relationship Type="http://schemas.openxmlformats.org/officeDocument/2006/relationships/slide" Target="/ppt/slides/slide5.xml" Id="R9f77b4533f6948b3" /><Relationship Type="http://schemas.openxmlformats.org/officeDocument/2006/relationships/notesMaster" Target="/ppt/notesMasters/notesMaster1.xml" Id="R7391ede1b2b24872" /></Relationships>
</file>

<file path=ppt/notesSlides/_rels/notesSlide6.xml.rels>&#65279;<?xml version="1.0" encoding="utf-8"?><Relationships xmlns="http://schemas.openxmlformats.org/package/2006/relationships"><Relationship Type="http://schemas.openxmlformats.org/officeDocument/2006/relationships/slide" Target="/ppt/slides/slide6.xml" Id="R320e6fe317a14937" /><Relationship Type="http://schemas.openxmlformats.org/officeDocument/2006/relationships/notesMaster" Target="/ppt/notesMasters/notesMaster1.xml" Id="R530190fa49ef4714" /></Relationships>
</file>

<file path=ppt/notesSlides/_rels/notesSlide7.xml.rels>&#65279;<?xml version="1.0" encoding="utf-8"?><Relationships xmlns="http://schemas.openxmlformats.org/package/2006/relationships"><Relationship Type="http://schemas.openxmlformats.org/officeDocument/2006/relationships/slide" Target="/ppt/slides/slide7.xml" Id="Ra7aafc8c9d1c4d4a" /><Relationship Type="http://schemas.openxmlformats.org/officeDocument/2006/relationships/notesMaster" Target="/ppt/notesMasters/notesMaster1.xml" Id="R728efb81637a4e3c" /></Relationships>
</file>

<file path=ppt/notesSlides/_rels/notesSlide8.xml.rels>&#65279;<?xml version="1.0" encoding="utf-8"?><Relationships xmlns="http://schemas.openxmlformats.org/package/2006/relationships"><Relationship Type="http://schemas.openxmlformats.org/officeDocument/2006/relationships/slide" Target="/ppt/slides/slide8.xml" Id="Rc73349e1ac124026" /><Relationship Type="http://schemas.openxmlformats.org/officeDocument/2006/relationships/notesMaster" Target="/ppt/notesMasters/notesMaster1.xml" Id="Rfa5cc0164fd74b28" /></Relationships>
</file>

<file path=ppt/notesSlides/_rels/notesSlide9.xml.rels>&#65279;<?xml version="1.0" encoding="utf-8"?><Relationships xmlns="http://schemas.openxmlformats.org/package/2006/relationships"><Relationship Type="http://schemas.openxmlformats.org/officeDocument/2006/relationships/slide" Target="/ppt/slides/slide9.xml" Id="Rdfd465c1662f4276" /><Relationship Type="http://schemas.openxmlformats.org/officeDocument/2006/relationships/notesMaster" Target="/ppt/notesMasters/notesMaster1.xml" Id="R1d6a1dec49294ff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c84604910da4ac2" /><Relationship Type="http://schemas.openxmlformats.org/officeDocument/2006/relationships/notesMaster" Target="/ppt/notesMasters/notesMaster1.xml" Id="R97b1bf02b1f54b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This project values QinetiQ and tests whether shareholders are better served by retaining, restructuring or selling the US operation. The central conclusion is that the company should improve the US business while maintaining a sale process, but should avoid selling at a weak price.</a:t>
            </a:r>
          </a:p>
          <a:p xmlns:a="http://schemas.openxmlformats.org/drawingml/2006/main">
            <a:r>
              <a:t/>
            </a:r>
          </a:p>
          <a:p xmlns:a="http://schemas.openxmlformats.org/drawingml/2006/main">
            <a:r>
              <a:t>SOURCES</a:t>
            </a:r>
          </a:p>
          <a:p xmlns:a="http://schemas.openxmlformats.org/drawingml/2006/main">
            <a:r>
              <a:t>Project workbook and research files; market data dated 16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Lead with the answer. I triangulated the valuation rather than relying on one method. The most defensible range comes from the operating profit multiple and the two retain-case DCFs. The US decision depends on the achievable sale multiple, not on the idea that disposal automatically creates value.</a:t>
            </a:r>
          </a:p>
          <a:p xmlns:a="http://schemas.openxmlformats.org/drawingml/2006/main">
            <a:r>
              <a:t/>
            </a:r>
          </a:p>
          <a:p xmlns:a="http://schemas.openxmlformats.org/drawingml/2006/main">
            <a:r>
              <a:t>SOURCES</a:t>
            </a:r>
          </a:p>
          <a:p xmlns:a="http://schemas.openxmlformats.org/drawingml/2006/main">
            <a:r>
              <a:t>Research/valuation_conclusion.md; model/QinetiQ_Valuation_Model.xlsx.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QinetiQ is not one homogeneous business. EMEA has stronger contracted visibility and a more stable margin. Global Solutions has already been resized and partially divested, but the US portfolio remains the central strategic question. The disposal model therefore separates the US operation from Other Products.</a:t>
            </a:r>
          </a:p>
          <a:p xmlns:a="http://schemas.openxmlformats.org/drawingml/2006/main">
            <a:r>
              <a:t/>
            </a:r>
          </a:p>
          <a:p xmlns:a="http://schemas.openxmlformats.org/drawingml/2006/main">
            <a:r>
              <a:t>SOURCES</a:t>
            </a:r>
          </a:p>
          <a:p xmlns:a="http://schemas.openxmlformats.org/drawingml/2006/main">
            <a:r>
              <a:t>QinetiQ FY26 Annual Report; FY27 Q1 trading update; research/restructuring_case_assumptions.md; research/us_disposal_case_assumptions.md.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Revenue growth has been real, but the quality differs by segment. Global Solutions expanded after acquisitions, then contracted as QinetiQ exited low-return work. Its margin moved from 10.5% to 3.6% and back to 9.0%, which is why the forecast assumes gradual recovery rather than a straight-line rebound.</a:t>
            </a:r>
          </a:p>
          <a:p xmlns:a="http://schemas.openxmlformats.org/drawingml/2006/main">
            <a:r>
              <a:t/>
            </a:r>
          </a:p>
          <a:p xmlns:a="http://schemas.openxmlformats.org/drawingml/2006/main">
            <a:r>
              <a:t>SOURCES</a:t>
            </a:r>
          </a:p>
          <a:p xmlns:a="http://schemas.openxmlformats.org/drawingml/2006/main">
            <a:r>
              <a:t>QinetiQ FY22-FY26 annual reports; research/forecast_assumptions.md; research/restructuring_case_assumptions.md.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The base case stays within current FY27 guidance and then tapers. EMEA carries the growth and Global Solutions recovers gradually. UFCF is EBIT after tax plus D&amp;A, less CapEx and working-capital investment. The FY27 to FY29 UFCF total is about £555m, which provides a directional check against management's more than £550m reported free cash flow target, although the definitions differ.</a:t>
            </a:r>
          </a:p>
          <a:p xmlns:a="http://schemas.openxmlformats.org/drawingml/2006/main">
            <a:r>
              <a:t/>
            </a:r>
          </a:p>
          <a:p xmlns:a="http://schemas.openxmlformats.org/drawingml/2006/main">
            <a:r>
              <a:t>SOURCES</a:t>
            </a:r>
          </a:p>
          <a:p xmlns:a="http://schemas.openxmlformats.org/drawingml/2006/main">
            <a:r>
              <a:t>Research/forecast_assumptions.md; QinetiQ FY26 Annual Report; FY27 Q1 trading 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Because UFCF belongs to debt and equity investors, I discount it at WACC. I use mid-year convention because cash arrives through the year. The terminal value is based on FY31 UFCF grown once at 2.0%. After deducting net debt, the DCF implies £5.51 per share. The high terminal-value share is why I present a range rather than false precision.</a:t>
            </a:r>
          </a:p>
          <a:p xmlns:a="http://schemas.openxmlformats.org/drawingml/2006/main">
            <a:r>
              <a:t/>
            </a:r>
          </a:p>
          <a:p xmlns:a="http://schemas.openxmlformats.org/drawingml/2006/main">
            <a:r>
              <a:t>SOURCES</a:t>
            </a:r>
          </a:p>
          <a:p xmlns:a="http://schemas.openxmlformats.org/drawingml/2006/main">
            <a:r>
              <a:t>Research/wacc_terminal_value.md; model/QinetiQ_Valuation_Model.xlsx.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The revenue multiple undervalues QinetiQ relative to its profitability. Several peers have lower margins, so EV to operating profit is the more meaningful cross-check. Precedent transactions show buyers can pay more, but I do not treat the median as a guaranteed price because the targets differed in growth, technology and strategic scarcity.</a:t>
            </a:r>
          </a:p>
          <a:p xmlns:a="http://schemas.openxmlformats.org/drawingml/2006/main">
            <a:r>
              <a:t/>
            </a:r>
          </a:p>
          <a:p xmlns:a="http://schemas.openxmlformats.org/drawingml/2006/main">
            <a:r>
              <a:t>SOURCES</a:t>
            </a:r>
          </a:p>
          <a:p xmlns:a="http://schemas.openxmlformats.org/drawingml/2006/main">
            <a:r>
              <a:t>Research/trading_comparables.md; research/precedent_transactions.md; market data dated 16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I modelled restructuring as an incremental second phase because QinetiQ had already cut headcount and exited low-return work. The result is only one penny above the base DCF. For the sale case, I value the retained business, add net proceeds after a 10% leakage allowance, and deduct group net debt. The achievable price drives the decision.</a:t>
            </a:r>
          </a:p>
          <a:p xmlns:a="http://schemas.openxmlformats.org/drawingml/2006/main">
            <a:r>
              <a:t/>
            </a:r>
          </a:p>
          <a:p xmlns:a="http://schemas.openxmlformats.org/drawingml/2006/main">
            <a:r>
              <a:t>SOURCES</a:t>
            </a:r>
          </a:p>
          <a:p xmlns:a="http://schemas.openxmlformats.org/drawingml/2006/main">
            <a:r>
              <a:t>Research/restructuring_case_assumptions.md; research/us_disposal_case_assumptions.md; research/valuation_conclusion.md.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The mathematical break-even multiple is about 1.13x after the 10% proceeds allowance. That should not be the target because it provides no margin for tax, separation, working-capital adjustments or uncertainty. Around 1.25x is the minimum discussion point. A price closer to 1.50x gives a more credible value buffer.</a:t>
            </a:r>
          </a:p>
          <a:p xmlns:a="http://schemas.openxmlformats.org/drawingml/2006/main">
            <a:r>
              <a:t/>
            </a:r>
          </a:p>
          <a:p xmlns:a="http://schemas.openxmlformats.org/drawingml/2006/main">
            <a:r>
              <a:t>SOURCES</a:t>
            </a:r>
          </a:p>
          <a:p xmlns:a="http://schemas.openxmlformats.org/drawingml/2006/main">
            <a:r>
              <a:t>Research/us_disposal_case_assumptions.md; research/valuation_conclusion.md.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Close by restating the decision rather than repeating every valuation output. The model does not prove that QinetiQ must sell or must retain. It establishes a price-based rule: improve the asset, test the market, and transact only when the net value clearly exceeds the retain case. Refresh the market inputs and any strategic-review announcement before presenting.</a:t>
            </a:r>
          </a:p>
          <a:p xmlns:a="http://schemas.openxmlformats.org/drawingml/2006/main">
            <a:r>
              <a:t/>
            </a:r>
          </a:p>
          <a:p xmlns:a="http://schemas.openxmlformats.org/drawingml/2006/main">
            <a:r>
              <a:t>SOURCES</a:t>
            </a:r>
          </a:p>
          <a:p xmlns:a="http://schemas.openxmlformats.org/drawingml/2006/main">
            <a:r>
              <a:t>Research/valuation_conclusion.md; full source log in research/sources.csv.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091cec493f457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8dfd95b50cc4182" /><Relationship Type="http://schemas.openxmlformats.org/officeDocument/2006/relationships/slideLayout" Target="/ppt/slideLayouts/slideLayout1.xml" Id="R907f02af9da14fa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07f02af9da14fa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245e1587aa94b1d" /><Relationship Type="http://schemas.openxmlformats.org/officeDocument/2006/relationships/notesSlide" Target="/ppt/notesSlides/notesSlide1.xml" Id="R2f6f7329ba294e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74505afa71a4d64" /><Relationship Type="http://schemas.openxmlformats.org/officeDocument/2006/relationships/notesSlide" Target="/ppt/notesSlides/notesSlide2.xml" Id="R9673c9d1e23e431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0bf380b899d443e" /><Relationship Type="http://schemas.openxmlformats.org/officeDocument/2006/relationships/notesSlide" Target="/ppt/notesSlides/notesSlide3.xml" Id="Rc5096334c4d24eb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fc2da73019243e2" /><Relationship Type="http://schemas.openxmlformats.org/officeDocument/2006/relationships/chart" Target="/ppt/slides/charts/chart1.xml" Id="R7f3bd65238ec4ca7" /><Relationship Type="http://schemas.openxmlformats.org/officeDocument/2006/relationships/chart" Target="/ppt/slides/charts/chart2.xml" Id="R689d6781ad954dc1" /><Relationship Type="http://schemas.openxmlformats.org/officeDocument/2006/relationships/notesSlide" Target="/ppt/notesSlides/notesSlide4.xml" Id="R3fb261ee8228437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cd06aaf60ae477b" /><Relationship Type="http://schemas.openxmlformats.org/officeDocument/2006/relationships/chart" Target="/ppt/slides/charts/chart3.xml" Id="R0d50798fc93e4d9d" /><Relationship Type="http://schemas.openxmlformats.org/officeDocument/2006/relationships/chart" Target="/ppt/slides/charts/chart4.xml" Id="Red369b5b83324651" /><Relationship Type="http://schemas.openxmlformats.org/officeDocument/2006/relationships/notesSlide" Target="/ppt/notesSlides/notesSlide5.xml" Id="Rb563e2917b11428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4bf018604aa4a01" /><Relationship Type="http://schemas.openxmlformats.org/officeDocument/2006/relationships/chart" Target="/ppt/slides/charts/chart5.xml" Id="Raeb86f45fb544a2b" /><Relationship Type="http://schemas.openxmlformats.org/officeDocument/2006/relationships/notesSlide" Target="/ppt/notesSlides/notesSlide6.xml" Id="Rdf025ac2c0bb4fa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eb222941e1f44df" /><Relationship Type="http://schemas.openxmlformats.org/officeDocument/2006/relationships/chart" Target="/ppt/slides/charts/chart6.xml" Id="Ra0d5ebc1fbd44fd4" /><Relationship Type="http://schemas.openxmlformats.org/officeDocument/2006/relationships/notesSlide" Target="/ppt/notesSlides/notesSlide7.xml" Id="R0e0c4ad4edbf4d8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df427f0dd124874" /><Relationship Type="http://schemas.openxmlformats.org/officeDocument/2006/relationships/notesSlide" Target="/ppt/notesSlides/notesSlide8.xml" Id="Recfba18a08ae4ab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89cac535fe94d94" /><Relationship Type="http://schemas.openxmlformats.org/officeDocument/2006/relationships/chart" Target="/ppt/slides/charts/chart7.xml" Id="Ra3cab37941fb4cfd" /><Relationship Type="http://schemas.openxmlformats.org/officeDocument/2006/relationships/notesSlide" Target="/ppt/notesSlides/notesSlide9.xml" Id="Rca4f5af42c79428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a278c0e6f2a42d1" /><Relationship Type="http://schemas.openxmlformats.org/officeDocument/2006/relationships/notesSlide" Target="/ppt/notesSlides/notesSlide10.xml" Id="R1a0c441ec0de48a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EMEA Services</c:v>
          </c:tx>
          <c:spPr>
            <a:solidFill xmlns:a="http://schemas.openxmlformats.org/drawingml/2006/main">
              <a:srgbClr val="17365D"/>
            </a:solidFill>
          </c:spPr>
          <c:cat>
            <c:strRef>
              <c:f>'Chart Data'!$A$2:$A$6</c:f>
              <c:strCache>
                <c:ptCount val="5"/>
                <c:pt idx="0">
                  <c:v>FY22</c:v>
                </c:pt>
                <c:pt idx="1">
                  <c:v>FY23</c:v>
                </c:pt>
                <c:pt idx="2">
                  <c:v>FY24</c:v>
                </c:pt>
                <c:pt idx="3">
                  <c:v>FY25</c:v>
                </c:pt>
                <c:pt idx="4">
                  <c:v>FY26</c:v>
                </c:pt>
              </c:strCache>
            </c:strRef>
          </c:cat>
          <c:val>
            <c:numRef>
              <c:f>'Chart Data'!$B$2:$B$6</c:f>
              <c:numCache>
                <c:formatCode>£0m</c:formatCode>
                <c:ptCount val="5"/>
                <c:pt idx="0">
                  <c:v>1059.2</c:v>
                </c:pt>
                <c:pt idx="1">
                  <c:v>1179.3</c:v>
                </c:pt>
                <c:pt idx="2">
                  <c:v>1417.4</c:v>
                </c:pt>
                <c:pt idx="3">
                  <c:v>1477.7</c:v>
                </c:pt>
                <c:pt idx="4">
                  <c:v>1529.2</c:v>
                </c:pt>
              </c:numCache>
            </c:numRef>
          </c:val>
        </c:ser>
        <c:ser>
          <c:idx val="1"/>
          <c:order val="1"/>
          <c:tx>
            <c:v>Global Solutions</c:v>
          </c:tx>
          <c:spPr>
            <a:solidFill xmlns:a="http://schemas.openxmlformats.org/drawingml/2006/main">
              <a:srgbClr val="5B9BD5"/>
            </a:solidFill>
          </c:spPr>
          <c:cat>
            <c:strRef>
              <c:f>'Chart Data'!$C$2:$C$6</c:f>
              <c:strCache>
                <c:ptCount val="5"/>
                <c:pt idx="0">
                  <c:v>FY22</c:v>
                </c:pt>
                <c:pt idx="1">
                  <c:v>FY23</c:v>
                </c:pt>
                <c:pt idx="2">
                  <c:v>FY24</c:v>
                </c:pt>
                <c:pt idx="3">
                  <c:v>FY25</c:v>
                </c:pt>
                <c:pt idx="4">
                  <c:v>FY26</c:v>
                </c:pt>
              </c:strCache>
            </c:strRef>
          </c:cat>
          <c:val>
            <c:numRef>
              <c:f>'Chart Data'!$D$2:$D$6</c:f>
              <c:numCache>
                <c:formatCode>£0m</c:formatCode>
                <c:ptCount val="5"/>
                <c:pt idx="0">
                  <c:v>261.2</c:v>
                </c:pt>
                <c:pt idx="1">
                  <c:v>401.4</c:v>
                </c:pt>
                <c:pt idx="2">
                  <c:v>494.7</c:v>
                </c:pt>
                <c:pt idx="3">
                  <c:v>453.9</c:v>
                </c:pt>
                <c:pt idx="4">
                  <c:v>393.4</c:v>
                </c:pt>
              </c:numCache>
            </c:numRef>
          </c: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showLegendKey val="0"/>
          <c:showVal val="0"/>
          <c:showCatName val="0"/>
          <c:showSerName val="0"/>
          <c:showPercent val="0"/>
          <c:showBubbleSize val="0"/>
          <c:showLeaderLines val="0"/>
        </c:dLbls>
        <c:gapWidth val="6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DEE7"/>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717E"/>
                </a:solidFill>
                <a:latin typeface="Aptos"/>
                <a:ea typeface="Aptos"/>
                <a:cs typeface="Aptos"/>
              </a:defRPr>
            </a:pPr>
          </a:p>
        </c:txPr>
        <c:crossAx val="48672768"/>
      </c:catAx>
      <c:valAx>
        <c:axId val="48672768"/>
        <c:scaling>
          <c:orientation val="minMax"/>
          <c:max val="2200"/>
          <c:min val="0"/>
        </c:scaling>
        <c:delete val="0"/>
        <c:axPos val="l"/>
        <c:majorGridlines>
          <c:spPr>
            <a:ln xmlns:a="http://schemas.openxmlformats.org/drawingml/2006/main" w="9525">
              <a:solidFill>
                <a:srgbClr val="D7DEE7"/>
              </a:solidFill>
              <a:prstDash val="solid"/>
            </a:ln>
          </c:spPr>
        </c:majorGridlines>
        <c:numFmt formatCode="£0m"/>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717E"/>
                </a:solidFill>
                <a:latin typeface="Aptos"/>
                <a:ea typeface="Aptos"/>
                <a:cs typeface="Aptos"/>
              </a:defRPr>
            </a:pPr>
          </a:p>
        </c:txPr>
        <c:crossAx val="48650112"/>
        <c:crossBetween val="between"/>
        <c:majorUnit val="50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66717E"/>
              </a:solidFill>
              <a:latin typeface="Aptos"/>
              <a:ea typeface="Aptos"/>
              <a:cs typeface="Aptos"/>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ser>
          <c:idx val="0"/>
          <c:order val="0"/>
          <c:tx>
            <c:v>Global Solutions margin</c:v>
          </c:tx>
          <c:spPr>
            <a:ln xmlns:a="http://schemas.openxmlformats.org/drawingml/2006/main" w="38100">
              <a:solidFill>
                <a:srgbClr val="A8443A"/>
              </a:solidFill>
              <a:prstDash val="solid"/>
            </a:ln>
          </c:spPr>
          <c:marker>
            <c:symbol val="circle"/>
            <c:size val="7"/>
            <c:spPr>
              <a:solidFill xmlns:a="http://schemas.openxmlformats.org/drawingml/2006/main">
                <a:srgbClr val="A8443A"/>
              </a:solidFill>
            </c:spPr>
          </c:marker>
          <c:cat>
            <c:strRef>
              <c:f>'Chart Data'!$A$2:$A$6</c:f>
              <c:strCache>
                <c:ptCount val="5"/>
                <c:pt idx="0">
                  <c:v>FY22</c:v>
                </c:pt>
                <c:pt idx="1">
                  <c:v>FY23</c:v>
                </c:pt>
                <c:pt idx="2">
                  <c:v>FY24</c:v>
                </c:pt>
                <c:pt idx="3">
                  <c:v>FY25</c:v>
                </c:pt>
                <c:pt idx="4">
                  <c:v>FY26</c:v>
                </c:pt>
              </c:strCache>
            </c:strRef>
          </c:cat>
          <c:val>
            <c:numRef>
              <c:f>'Chart Data'!$B$2:$B$6</c:f>
              <c:numCache>
                <c:formatCode>0.0%</c:formatCode>
                <c:ptCount val="5"/>
                <c:pt idx="0">
                  <c:v>0.007</c:v>
                </c:pt>
                <c:pt idx="1">
                  <c:v>0.104</c:v>
                </c:pt>
                <c:pt idx="2">
                  <c:v>0.105</c:v>
                </c:pt>
                <c:pt idx="3">
                  <c:v>0.036</c:v>
                </c:pt>
                <c:pt idx="4">
                  <c:v>0.09</c:v>
                </c:pt>
              </c:numCache>
            </c:numRef>
          </c:val>
        </c:ser>
        <c:dLbls>
          <c:txPr>
            <a:bodyPr xmlns:a="http://schemas.openxmlformats.org/drawingml/2006/main" anchorCtr="1"/>
            <a:lstStyle xmlns:a="http://schemas.openxmlformats.org/drawingml/2006/main"/>
            <a:p xmlns:a="http://schemas.openxmlformats.org/drawingml/2006/main">
              <a:pPr>
                <a:defRPr sz="975" b="1">
                  <a:solidFill>
                    <a:srgbClr val="A8443A"/>
                  </a:solidFill>
                  <a:latin typeface="Aptos"/>
                  <a:ea typeface="Aptos"/>
                  <a:cs typeface="Aptos"/>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7DEE7"/>
            </a:solidFill>
            <a:prstDash val="solid"/>
          </a:ln>
        </c:spPr>
        <c:txPr>
          <a:bodyPr xmlns:a="http://schemas.openxmlformats.org/drawingml/2006/main" anchorCtr="1"/>
          <a:lstStyle xmlns:a="http://schemas.openxmlformats.org/drawingml/2006/main"/>
          <a:p xmlns:a="http://schemas.openxmlformats.org/drawingml/2006/main">
            <a:pPr>
              <a:defRPr sz="975">
                <a:solidFill>
                  <a:srgbClr val="66717E"/>
                </a:solidFill>
                <a:latin typeface="Aptos"/>
                <a:ea typeface="Aptos"/>
                <a:cs typeface="Aptos"/>
              </a:defRPr>
            </a:pPr>
          </a:p>
        </c:txPr>
        <c:crossAx val="48672768"/>
      </c:catAx>
      <c:valAx>
        <c:axId val="48672768"/>
        <c:scaling>
          <c:orientation val="minMax"/>
          <c:max val="0.12"/>
          <c:min val="0"/>
        </c:scaling>
        <c:delete val="0"/>
        <c:axPos val="l"/>
        <c:majorGridlines>
          <c:spPr>
            <a:ln xmlns:a="http://schemas.openxmlformats.org/drawingml/2006/main" w="9525">
              <a:solidFill>
                <a:srgbClr val="D7DEE7"/>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717E"/>
                </a:solidFill>
                <a:latin typeface="Aptos"/>
                <a:ea typeface="Aptos"/>
                <a:cs typeface="Aptos"/>
              </a:defRPr>
            </a:pPr>
          </a:p>
        </c:txPr>
        <c:crossAx val="48650112"/>
        <c:crossBetween val="between"/>
        <c:majorUnit val="0.03"/>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Revenue</c:v>
          </c:tx>
          <c:spPr>
            <a:solidFill xmlns:a="http://schemas.openxmlformats.org/drawingml/2006/main">
              <a:srgbClr val="17365D"/>
            </a:solidFill>
          </c:spPr>
          <c:cat>
            <c:strRef>
              <c:f>'Chart Data'!$A$2:$A$6</c:f>
              <c:strCache>
                <c:ptCount val="5"/>
                <c:pt idx="0">
                  <c:v>FY27E</c:v>
                </c:pt>
                <c:pt idx="1">
                  <c:v>FY28E</c:v>
                </c:pt>
                <c:pt idx="2">
                  <c:v>FY29E</c:v>
                </c:pt>
                <c:pt idx="3">
                  <c:v>FY30E</c:v>
                </c:pt>
                <c:pt idx="4">
                  <c:v>FY31E</c:v>
                </c:pt>
              </c:strCache>
            </c:strRef>
          </c:cat>
          <c:val>
            <c:numRef>
              <c:f>'Chart Data'!$B$2:$B$6</c:f>
              <c:numCache>
                <c:formatCode>£0.00</c:formatCode>
                <c:ptCount val="5"/>
                <c:pt idx="0">
                  <c:v>1.9991</c:v>
                </c:pt>
                <c:pt idx="1">
                  <c:v>2.0872</c:v>
                </c:pt>
                <c:pt idx="2">
                  <c:v>2.1751</c:v>
                </c:pt>
                <c:pt idx="3">
                  <c:v>2.258</c:v>
                </c:pt>
                <c:pt idx="4">
                  <c:v>2.3349</c:v>
                </c:pt>
              </c:numCache>
            </c:numRef>
          </c:val>
        </c:ser>
        <c:dLbls>
          <c:txPr>
            <a:bodyPr xmlns:a="http://schemas.openxmlformats.org/drawingml/2006/main" anchorCtr="1"/>
            <a:lstStyle xmlns:a="http://schemas.openxmlformats.org/drawingml/2006/main"/>
            <a:p xmlns:a="http://schemas.openxmlformats.org/drawingml/2006/main">
              <a:pPr>
                <a:defRPr sz="975" b="1">
                  <a:solidFill>
                    <a:srgbClr val="17365D"/>
                  </a:solidFill>
                  <a:latin typeface="Aptos"/>
                  <a:ea typeface="Aptos"/>
                  <a:cs typeface="Aptos"/>
                </a:defRPr>
              </a:pPr>
            </a:p>
          </c:txPr>
          <c:dLblPos val="outEnd"/>
          <c:showLegendKey val="0"/>
          <c:showVal val="1"/>
          <c:showCatName val="0"/>
          <c:showSerName val="0"/>
          <c:showPercent val="0"/>
          <c:showBubbleSize val="0"/>
          <c:showLeaderLines val="0"/>
        </c:dLbls>
        <c:gapWidth val="58"/>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DEE7"/>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717E"/>
                </a:solidFill>
                <a:latin typeface="Aptos"/>
                <a:ea typeface="Aptos"/>
                <a:cs typeface="Aptos"/>
              </a:defRPr>
            </a:pPr>
          </a:p>
        </c:txPr>
        <c:crossAx val="48672768"/>
      </c:catAx>
      <c:valAx>
        <c:axId val="48672768"/>
        <c:scaling>
          <c:orientation val="minMax"/>
          <c:max val="2.45"/>
          <c:min val="1.8"/>
        </c:scaling>
        <c:delete val="0"/>
        <c:axPos val="l"/>
        <c:majorGridlines>
          <c:spPr>
            <a:ln xmlns:a="http://schemas.openxmlformats.org/drawingml/2006/main" w="9525">
              <a:solidFill>
                <a:srgbClr val="D7DEE7"/>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717E"/>
                </a:solidFill>
                <a:latin typeface="Aptos"/>
                <a:ea typeface="Aptos"/>
                <a:cs typeface="Aptos"/>
              </a:defRPr>
            </a:pPr>
          </a:p>
        </c:txPr>
        <c:crossAx val="48650112"/>
        <c:crossBetween val="between"/>
        <c:majorUnit val="0.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ser>
          <c:idx val="0"/>
          <c:order val="0"/>
          <c:tx>
            <c:v>UFCF</c:v>
          </c:tx>
          <c:spPr>
            <a:ln xmlns:a="http://schemas.openxmlformats.org/drawingml/2006/main" w="38100">
              <a:solidFill>
                <a:srgbClr val="2E7D5B"/>
              </a:solidFill>
              <a:prstDash val="solid"/>
            </a:ln>
          </c:spPr>
          <c:marker>
            <c:symbol val="circle"/>
            <c:size val="8"/>
            <c:spPr>
              <a:solidFill xmlns:a="http://schemas.openxmlformats.org/drawingml/2006/main">
                <a:srgbClr val="2E7D5B"/>
              </a:solidFill>
            </c:spPr>
          </c:marker>
          <c:cat>
            <c:strRef>
              <c:f>'Chart Data'!$A$2:$A$6</c:f>
              <c:strCache>
                <c:ptCount val="5"/>
                <c:pt idx="0">
                  <c:v>FY27E</c:v>
                </c:pt>
                <c:pt idx="1">
                  <c:v>FY28E</c:v>
                </c:pt>
                <c:pt idx="2">
                  <c:v>FY29E</c:v>
                </c:pt>
                <c:pt idx="3">
                  <c:v>FY30E</c:v>
                </c:pt>
                <c:pt idx="4">
                  <c:v>FY31E</c:v>
                </c:pt>
              </c:strCache>
            </c:strRef>
          </c:cat>
          <c:val>
            <c:numRef>
              <c:f>'Chart Data'!$B$2:$B$6</c:f>
              <c:numCache>
                <c:formatCode>£0.0</c:formatCode>
                <c:ptCount val="5"/>
                <c:pt idx="0">
                  <c:v>174.2</c:v>
                </c:pt>
                <c:pt idx="1">
                  <c:v>184.8</c:v>
                </c:pt>
                <c:pt idx="2">
                  <c:v>195.5</c:v>
                </c:pt>
                <c:pt idx="3">
                  <c:v>204.1</c:v>
                </c:pt>
                <c:pt idx="4">
                  <c:v>210.4</c:v>
                </c:pt>
              </c:numCache>
            </c:numRef>
          </c:val>
        </c:ser>
        <c:dLbls>
          <c:txPr>
            <a:bodyPr xmlns:a="http://schemas.openxmlformats.org/drawingml/2006/main" anchorCtr="1"/>
            <a:lstStyle xmlns:a="http://schemas.openxmlformats.org/drawingml/2006/main"/>
            <a:p xmlns:a="http://schemas.openxmlformats.org/drawingml/2006/main">
              <a:pPr>
                <a:defRPr sz="975" b="1">
                  <a:solidFill>
                    <a:srgbClr val="2E7D5B"/>
                  </a:solidFill>
                  <a:latin typeface="Aptos"/>
                  <a:ea typeface="Aptos"/>
                  <a:cs typeface="Aptos"/>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7DEE7"/>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717E"/>
                </a:solidFill>
                <a:latin typeface="Aptos"/>
                <a:ea typeface="Aptos"/>
                <a:cs typeface="Aptos"/>
              </a:defRPr>
            </a:pPr>
          </a:p>
        </c:txPr>
        <c:crossAx val="48672768"/>
      </c:catAx>
      <c:valAx>
        <c:axId val="48672768"/>
        <c:scaling>
          <c:orientation val="minMax"/>
          <c:max val="220"/>
          <c:min val="160"/>
        </c:scaling>
        <c:delete val="0"/>
        <c:axPos val="l"/>
        <c:majorGridlines>
          <c:spPr>
            <a:ln xmlns:a="http://schemas.openxmlformats.org/drawingml/2006/main" w="9525">
              <a:solidFill>
                <a:srgbClr val="D7DEE7"/>
              </a:solidFill>
              <a:prstDash val="solid"/>
            </a:ln>
          </c:spPr>
        </c:majorGridlines>
        <c:numFmt formatCode="£0m"/>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717E"/>
                </a:solidFill>
                <a:latin typeface="Aptos"/>
                <a:ea typeface="Aptos"/>
                <a:cs typeface="Aptos"/>
              </a:defRPr>
            </a:pPr>
          </a:p>
        </c:txPr>
        <c:crossAx val="48650112"/>
        <c:crossBetween val="between"/>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bar"/>
        <c:grouping val="percentStacked"/>
        <c:varyColors val="0"/>
        <c:ser>
          <c:idx val="0"/>
          <c:order val="0"/>
          <c:tx>
            <c:v>Explicit forecast</c:v>
          </c:tx>
          <c:spPr>
            <a:solidFill xmlns:a="http://schemas.openxmlformats.org/drawingml/2006/main">
              <a:srgbClr val="5B9BD5"/>
            </a:solidFill>
          </c:spPr>
          <c:cat>
            <c:strRef>
              <c:f>'Chart Data'!$A$2:$A$2</c:f>
              <c:strCache>
                <c:ptCount val="1"/>
                <c:pt idx="0">
                  <c:v>Enterprise value</c:v>
                </c:pt>
              </c:strCache>
            </c:strRef>
          </c:cat>
          <c:val>
            <c:numRef>
              <c:f>'Chart Data'!$B$2:$B$2</c:f>
              <c:numCache>
                <c:formatCode>0%</c:formatCode>
                <c:ptCount val="1"/>
                <c:pt idx="0">
                  <c:v>0.26</c:v>
                </c:pt>
              </c:numCache>
            </c:numRef>
          </c:val>
        </c:ser>
        <c:ser>
          <c:idx val="1"/>
          <c:order val="1"/>
          <c:tx>
            <c:v>Terminal value</c:v>
          </c:tx>
          <c:spPr>
            <a:solidFill xmlns:a="http://schemas.openxmlformats.org/drawingml/2006/main">
              <a:srgbClr val="17365D"/>
            </a:solidFill>
          </c:spPr>
          <c:cat>
            <c:strRef>
              <c:f>'Chart Data'!$C$2:$C$2</c:f>
              <c:strCache>
                <c:ptCount val="1"/>
                <c:pt idx="0">
                  <c:v>Enterprise value</c:v>
                </c:pt>
              </c:strCache>
            </c:strRef>
          </c:cat>
          <c:val>
            <c:numRef>
              <c:f>'Chart Data'!$D$2:$D$2</c:f>
              <c:numCache>
                <c:formatCode>0%</c:formatCode>
                <c:ptCount val="1"/>
                <c:pt idx="0">
                  <c:v>0.74</c:v>
                </c:pt>
              </c:numCache>
            </c:numRef>
          </c:val>
        </c:ser>
        <c:dLbls>
          <c:txPr>
            <a:bodyPr xmlns:a="http://schemas.openxmlformats.org/drawingml/2006/main" anchorCtr="1"/>
            <a:lstStyle xmlns:a="http://schemas.openxmlformats.org/drawingml/2006/main"/>
            <a:p xmlns:a="http://schemas.openxmlformats.org/drawingml/2006/main">
              <a:pPr>
                <a:defRPr sz="1200" b="1">
                  <a:solidFill>
                    <a:srgbClr val="FFFFFF"/>
                  </a:solidFill>
                  <a:latin typeface="Aptos"/>
                  <a:ea typeface="Aptos"/>
                  <a:cs typeface="Aptos"/>
                </a:defRPr>
              </a:pPr>
            </a:p>
          </c:txPr>
          <c:dLblPos val="ctr"/>
          <c:showLegendKey val="0"/>
          <c:showVal val="1"/>
          <c:showCatName val="0"/>
          <c:showSerName val="0"/>
          <c:showPercent val="0"/>
          <c:showBubbleSize val="0"/>
          <c:showLeaderLines val="0"/>
        </c:dLbls>
        <c:gapWidth val="55"/>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ptos"/>
                <a:ea typeface="Aptos"/>
                <a:cs typeface="Aptos"/>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ptos"/>
                <a:ea typeface="Aptos"/>
                <a:cs typeface="Aptos"/>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66717E"/>
              </a:solidFill>
              <a:latin typeface="Aptos"/>
              <a:ea typeface="Aptos"/>
              <a:cs typeface="Aptos"/>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Value per share</c:v>
          </c:tx>
          <c:spPr>
            <a:solidFill xmlns:a="http://schemas.openxmlformats.org/drawingml/2006/main">
              <a:srgbClr val="2F75B5"/>
            </a:solidFill>
          </c:spPr>
          <c:dPt>
            <c:idx val="0"/>
            <c:invertIfNegative val="0"/>
            <c:spPr>
              <a:solidFill xmlns:a="http://schemas.openxmlformats.org/drawingml/2006/main">
                <a:srgbClr val="66717E"/>
              </a:solidFill>
            </c:spPr>
          </c:dPt>
          <c:dPt>
            <c:idx val="1"/>
            <c:invertIfNegative val="0"/>
            <c:spPr>
              <a:solidFill xmlns:a="http://schemas.openxmlformats.org/drawingml/2006/main">
                <a:srgbClr val="17365D"/>
              </a:solidFill>
            </c:spPr>
          </c:dPt>
          <c:dPt>
            <c:idx val="2"/>
            <c:invertIfNegative val="0"/>
            <c:spPr>
              <a:solidFill xmlns:a="http://schemas.openxmlformats.org/drawingml/2006/main">
                <a:srgbClr val="2E7D5B"/>
              </a:solidFill>
            </c:spPr>
          </c:dPt>
          <c:dPt>
            <c:idx val="3"/>
            <c:invertIfNegative val="0"/>
            <c:spPr>
              <a:solidFill xmlns:a="http://schemas.openxmlformats.org/drawingml/2006/main">
                <a:srgbClr val="2E7D5B"/>
              </a:solidFill>
            </c:spPr>
          </c:dPt>
          <c:dPt>
            <c:idx val="4"/>
            <c:invertIfNegative val="0"/>
            <c:spPr>
              <a:solidFill xmlns:a="http://schemas.openxmlformats.org/drawingml/2006/main">
                <a:srgbClr val="C27A19"/>
              </a:solidFill>
            </c:spPr>
          </c:dPt>
          <c:dPt>
            <c:idx val="5"/>
            <c:invertIfNegative val="0"/>
            <c:spPr>
              <a:solidFill xmlns:a="http://schemas.openxmlformats.org/drawingml/2006/main">
                <a:srgbClr val="5B9BD5"/>
              </a:solidFill>
            </c:spPr>
          </c:dPt>
          <c:cat>
            <c:strRef>
              <c:f>'Chart Data'!$A$2:$A$7</c:f>
              <c:strCache>
                <c:ptCount val="6"/>
                <c:pt idx="0">
                  <c:v>Revenue comps</c:v>
                </c:pt>
                <c:pt idx="1">
                  <c:v>Operating profit comps</c:v>
                </c:pt>
                <c:pt idx="2">
                  <c:v>Base DCF</c:v>
                </c:pt>
                <c:pt idx="3">
                  <c:v>Restructuring DCF</c:v>
                </c:pt>
                <c:pt idx="4">
                  <c:v>US sale 1.00x</c:v>
                </c:pt>
                <c:pt idx="5">
                  <c:v>US sale 1.81x</c:v>
                </c:pt>
              </c:strCache>
            </c:strRef>
          </c:cat>
          <c:val>
            <c:numRef>
              <c:f>'Chart Data'!$B$2:$B$7</c:f>
              <c:numCache>
                <c:formatCode>£0.00</c:formatCode>
                <c:ptCount val="6"/>
                <c:pt idx="0">
                  <c:v>3.91</c:v>
                </c:pt>
                <c:pt idx="1">
                  <c:v>5.29</c:v>
                </c:pt>
                <c:pt idx="2">
                  <c:v>5.51</c:v>
                </c:pt>
                <c:pt idx="3">
                  <c:v>5.52</c:v>
                </c:pt>
                <c:pt idx="4">
                  <c:v>5.44</c:v>
                </c:pt>
                <c:pt idx="5">
                  <c:v>5.85</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20252B"/>
                  </a:solidFill>
                  <a:latin typeface="Aptos"/>
                  <a:ea typeface="Aptos"/>
                  <a:cs typeface="Aptos"/>
                </a:defRPr>
              </a:pPr>
            </a:p>
          </c:txPr>
          <c:dLblPos val="outEnd"/>
          <c:showLegendKey val="0"/>
          <c:showVal val="1"/>
          <c:showCatName val="0"/>
          <c:showSerName val="0"/>
          <c:showPercent val="0"/>
          <c:showBubbleSize val="0"/>
          <c:showLeaderLines val="0"/>
        </c:dLbls>
        <c:gapWidth val="38"/>
        <c:axId val="48650112"/>
        <c:axId val="48672768"/>
      </c:barChart>
      <c:catAx>
        <c:axId val="48650112"/>
        <c:scaling>
          <c:orientation val="minMax"/>
        </c:scaling>
        <c:delete val="0"/>
        <c:axPos val="l"/>
        <c:majorGridlines>
          <c:spPr>
            <a:ln xmlns:a="http://schemas.openxmlformats.org/drawingml/2006/main" w="9525">
              <a:solidFill>
                <a:srgbClr val="D7DEE7"/>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717E"/>
                </a:solidFill>
                <a:latin typeface="Aptos"/>
                <a:ea typeface="Aptos"/>
                <a:cs typeface="Aptos"/>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7DEE7"/>
            </a:solidFill>
            <a:prstDash val="solid"/>
          </a:ln>
        </c:spPr>
        <c:txPr>
          <a:bodyPr xmlns:a="http://schemas.openxmlformats.org/drawingml/2006/main" anchorCtr="1"/>
          <a:lstStyle xmlns:a="http://schemas.openxmlformats.org/drawingml/2006/main"/>
          <a:p xmlns:a="http://schemas.openxmlformats.org/drawingml/2006/main">
            <a:pPr>
              <a:defRPr sz="1050">
                <a:solidFill>
                  <a:srgbClr val="20252B"/>
                </a:solidFill>
                <a:latin typeface="Aptos"/>
                <a:ea typeface="Aptos"/>
                <a:cs typeface="Apto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Value per share</c:v>
          </c:tx>
          <c:spPr>
            <a:solidFill xmlns:a="http://schemas.openxmlformats.org/drawingml/2006/main">
              <a:srgbClr val="2F75B5"/>
            </a:solidFill>
          </c:spPr>
          <c:dPt>
            <c:idx val="0"/>
            <c:invertIfNegative val="0"/>
            <c:spPr>
              <a:solidFill xmlns:a="http://schemas.openxmlformats.org/drawingml/2006/main">
                <a:srgbClr val="A8443A"/>
              </a:solidFill>
            </c:spPr>
          </c:dPt>
          <c:dPt>
            <c:idx val="1"/>
            <c:invertIfNegative val="0"/>
            <c:spPr>
              <a:solidFill xmlns:a="http://schemas.openxmlformats.org/drawingml/2006/main">
                <a:srgbClr val="A8443A"/>
              </a:solidFill>
            </c:spPr>
          </c:dPt>
          <c:dPt>
            <c:idx val="2"/>
            <c:invertIfNegative val="0"/>
            <c:spPr>
              <a:solidFill xmlns:a="http://schemas.openxmlformats.org/drawingml/2006/main">
                <a:srgbClr val="C27A19"/>
              </a:solidFill>
            </c:spPr>
          </c:dPt>
          <c:dPt>
            <c:idx val="3"/>
            <c:invertIfNegative val="0"/>
            <c:spPr>
              <a:solidFill xmlns:a="http://schemas.openxmlformats.org/drawingml/2006/main">
                <a:srgbClr val="66717E"/>
              </a:solidFill>
            </c:spPr>
          </c:dPt>
          <c:dPt>
            <c:idx val="4"/>
            <c:invertIfNegative val="0"/>
            <c:spPr>
              <a:solidFill xmlns:a="http://schemas.openxmlformats.org/drawingml/2006/main">
                <a:srgbClr val="2F75B5"/>
              </a:solidFill>
            </c:spPr>
          </c:dPt>
          <c:dPt>
            <c:idx val="5"/>
            <c:invertIfNegative val="0"/>
            <c:spPr>
              <a:solidFill xmlns:a="http://schemas.openxmlformats.org/drawingml/2006/main">
                <a:srgbClr val="2E7D5B"/>
              </a:solidFill>
            </c:spPr>
          </c:dPt>
          <c:dPt>
            <c:idx val="6"/>
            <c:invertIfNegative val="0"/>
            <c:spPr>
              <a:solidFill xmlns:a="http://schemas.openxmlformats.org/drawingml/2006/main">
                <a:srgbClr val="2E7D5B"/>
              </a:solidFill>
            </c:spPr>
          </c:dPt>
          <c:cat>
            <c:strRef>
              <c:f>'Chart Data'!$A$2:$A$8</c:f>
              <c:strCache>
                <c:ptCount val="7"/>
                <c:pt idx="0">
                  <c:v>0.75x</c:v>
                </c:pt>
                <c:pt idx="1">
                  <c:v>0.88x</c:v>
                </c:pt>
                <c:pt idx="2">
                  <c:v>1.00x</c:v>
                </c:pt>
                <c:pt idx="3">
                  <c:v>1.13x</c:v>
                </c:pt>
                <c:pt idx="4">
                  <c:v>1.25x</c:v>
                </c:pt>
                <c:pt idx="5">
                  <c:v>1.50x</c:v>
                </c:pt>
                <c:pt idx="6">
                  <c:v>1.81x</c:v>
                </c:pt>
              </c:strCache>
            </c:strRef>
          </c:cat>
          <c:val>
            <c:numRef>
              <c:f>'Chart Data'!$B$2:$B$8</c:f>
              <c:numCache>
                <c:formatCode>£0.00</c:formatCode>
                <c:ptCount val="7"/>
                <c:pt idx="0">
                  <c:v>5.32</c:v>
                </c:pt>
                <c:pt idx="1">
                  <c:v>5.38</c:v>
                </c:pt>
                <c:pt idx="2">
                  <c:v>5.44</c:v>
                </c:pt>
                <c:pt idx="3">
                  <c:v>5.51</c:v>
                </c:pt>
                <c:pt idx="4">
                  <c:v>5.57</c:v>
                </c:pt>
                <c:pt idx="5">
                  <c:v>5.69</c:v>
                </c:pt>
                <c:pt idx="6">
                  <c:v>5.85</c:v>
                </c:pt>
              </c:numCache>
            </c:numRef>
          </c:val>
        </c:ser>
        <c:dLbls>
          <c:txPr>
            <a:bodyPr xmlns:a="http://schemas.openxmlformats.org/drawingml/2006/main" anchorCtr="1"/>
            <a:lstStyle xmlns:a="http://schemas.openxmlformats.org/drawingml/2006/main"/>
            <a:p xmlns:a="http://schemas.openxmlformats.org/drawingml/2006/main">
              <a:pPr>
                <a:defRPr sz="975" b="1">
                  <a:solidFill>
                    <a:srgbClr val="20252B"/>
                  </a:solidFill>
                  <a:latin typeface="Aptos"/>
                  <a:ea typeface="Aptos"/>
                  <a:cs typeface="Aptos"/>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DEE7"/>
            </a:solidFill>
            <a:prstDash val="solid"/>
          </a:ln>
        </c:spPr>
        <c:txPr>
          <a:bodyPr xmlns:a="http://schemas.openxmlformats.org/drawingml/2006/main" anchorCtr="1"/>
          <a:lstStyle xmlns:a="http://schemas.openxmlformats.org/drawingml/2006/main"/>
          <a:p xmlns:a="http://schemas.openxmlformats.org/drawingml/2006/main">
            <a:pPr>
              <a:defRPr sz="1050">
                <a:solidFill>
                  <a:srgbClr val="20252B"/>
                </a:solidFill>
                <a:latin typeface="Aptos"/>
                <a:ea typeface="Aptos"/>
                <a:cs typeface="Aptos"/>
              </a:defRPr>
            </a:pPr>
          </a:p>
        </c:txPr>
        <c:crossAx val="48672768"/>
      </c:catAx>
      <c:valAx>
        <c:axId val="48672768"/>
        <c:scaling>
          <c:orientation val="minMax"/>
          <c:max val="6"/>
          <c:min val="5.2"/>
        </c:scaling>
        <c:delete val="0"/>
        <c:axPos val="l"/>
        <c:majorGridlines>
          <c:spPr>
            <a:ln xmlns:a="http://schemas.openxmlformats.org/drawingml/2006/main" w="9525">
              <a:solidFill>
                <a:srgbClr val="D7DEE7"/>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717E"/>
                </a:solidFill>
                <a:latin typeface="Aptos"/>
                <a:ea typeface="Aptos"/>
                <a:cs typeface="Aptos"/>
              </a:defRPr>
            </a:pPr>
          </a:p>
        </c:txPr>
        <c:crossAx val="48650112"/>
        <c:crossBetween val="between"/>
        <c:majorUnit val="0.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365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C914A75-8668-4F2C-BFF7-CCD05A92FB24}"/>
              </a:ext>
            </a:extLst>
          </p:cNvPr>
          <p:cNvSpPr>
            <a:spLocks xmlns:a="http://schemas.openxmlformats.org/drawingml/2006/main" noGrp="1"/>
          </p:cNvSpPr>
          <p:nvPr/>
        </p:nvSpPr>
        <p:spPr>
          <a:xfrm xmlns:a="http://schemas.openxmlformats.org/drawingml/2006/main">
            <a:off x="685800" y="666750"/>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A9C8E5"/>
                </a:solidFill>
                <a:latin typeface="Aptos"/>
                <a:ea typeface="Aptos"/>
                <a:cs typeface="Aptos"/>
              </a:defRPr>
            </a:pPr>
            <a:r>
              <a:rPr sz="1500" b="1">
                <a:solidFill>
                  <a:srgbClr val="A9C8E5"/>
                </a:solidFill>
                <a:latin typeface="Aptos"/>
                <a:ea typeface="Aptos"/>
                <a:cs typeface="Aptos"/>
              </a:rPr>
              <a:t>QinetiQ</a:t>
            </a:r>
          </a:p>
        </p:txBody>
      </p:sp>
      <p:sp>
        <p:nvSpPr>
          <p:cNvPr id="2" name="">
            <a:extLst xmlns:a="http://schemas.openxmlformats.org/drawingml/2006/main">
              <a:ext uri="{FF2B5EF4-FFF2-40B4-BE49-F238E27FC236}">
                <a16:creationId xmlns:a16="http://schemas.microsoft.com/office/drawing/2014/main" id="{24AD14C6-280F-44C6-9DDD-26D8F5B37505}"/>
              </a:ext>
            </a:extLst>
          </p:cNvPr>
          <p:cNvSpPr>
            <a:spLocks xmlns:a="http://schemas.openxmlformats.org/drawingml/2006/main" noGrp="1"/>
          </p:cNvSpPr>
          <p:nvPr/>
        </p:nvSpPr>
        <p:spPr>
          <a:xfrm xmlns:a="http://schemas.openxmlformats.org/drawingml/2006/main">
            <a:off x="685800" y="1600200"/>
            <a:ext cx="8858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350" b="1">
                <a:solidFill>
                  <a:srgbClr val="FFFFFF"/>
                </a:solidFill>
                <a:latin typeface="Aptos"/>
                <a:ea typeface="Aptos"/>
                <a:cs typeface="Aptos"/>
              </a:defRPr>
            </a:pPr>
            <a:r>
              <a:rPr sz="4350" b="1">
                <a:solidFill>
                  <a:srgbClr val="FFFFFF"/>
                </a:solidFill>
                <a:latin typeface="Aptos"/>
                <a:ea typeface="Aptos"/>
                <a:cs typeface="Aptos"/>
              </a:rPr>
              <a:t>Valuation and US Strategic Review</a:t>
            </a:r>
          </a:p>
        </p:txBody>
      </p:sp>
      <p:sp>
        <p:nvSpPr>
          <p:cNvPr id="3" name="">
            <a:extLst xmlns:a="http://schemas.openxmlformats.org/drawingml/2006/main">
              <a:ext uri="{FF2B5EF4-FFF2-40B4-BE49-F238E27FC236}">
                <a16:creationId xmlns:a16="http://schemas.microsoft.com/office/drawing/2014/main" id="{8719FC1C-8132-4B95-BB53-3D76F3B77558}"/>
              </a:ext>
            </a:extLst>
          </p:cNvPr>
          <p:cNvSpPr>
            <a:spLocks xmlns:a="http://schemas.openxmlformats.org/drawingml/2006/main" noGrp="1"/>
          </p:cNvSpPr>
          <p:nvPr/>
        </p:nvSpPr>
        <p:spPr>
          <a:xfrm xmlns:a="http://schemas.openxmlformats.org/drawingml/2006/main">
            <a:off x="723900" y="3257550"/>
            <a:ext cx="781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DCE9F5"/>
                </a:solidFill>
                <a:latin typeface="Aptos"/>
                <a:ea typeface="Aptos"/>
                <a:cs typeface="Aptos"/>
              </a:defRPr>
            </a:pPr>
            <a:r>
              <a:rPr sz="1800" b="0">
                <a:solidFill>
                  <a:srgbClr val="DCE9F5"/>
                </a:solidFill>
                <a:latin typeface="Aptos"/>
                <a:ea typeface="Aptos"/>
                <a:cs typeface="Aptos"/>
              </a:rPr>
              <a:t>DCF, trading comparables and strategic alternatives</a:t>
            </a:r>
          </a:p>
        </p:txBody>
      </p:sp>
      <p:sp>
        <p:nvSpPr>
          <p:cNvPr id="4" name="">
            <a:extLst xmlns:a="http://schemas.openxmlformats.org/drawingml/2006/main">
              <a:ext uri="{FF2B5EF4-FFF2-40B4-BE49-F238E27FC236}">
                <a16:creationId xmlns:a16="http://schemas.microsoft.com/office/drawing/2014/main" id="{2D7E7C8A-D960-40F1-BCB2-D755BCC002B6}"/>
              </a:ext>
            </a:extLst>
          </p:cNvPr>
          <p:cNvSpPr>
            <a:spLocks xmlns:a="http://schemas.openxmlformats.org/drawingml/2006/main" noGrp="1"/>
          </p:cNvSpPr>
          <p:nvPr/>
        </p:nvSpPr>
        <p:spPr>
          <a:xfrm xmlns:a="http://schemas.openxmlformats.org/drawingml/2006/main">
            <a:off x="723900" y="4000500"/>
            <a:ext cx="2000250" cy="57150"/>
          </a:xfrm>
          <a:prstGeom xmlns:a="http://schemas.openxmlformats.org/drawingml/2006/main" prst="rect">
            <a:avLst/>
          </a:prstGeom>
          <a:solidFill xmlns:a="http://schemas.openxmlformats.org/drawingml/2006/main">
            <a:srgbClr val="5B9BD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85AFD89-5F17-4862-A930-1CE79909D60E}"/>
              </a:ext>
            </a:extLst>
          </p:cNvPr>
          <p:cNvSpPr>
            <a:spLocks xmlns:a="http://schemas.openxmlformats.org/drawingml/2006/main" noGrp="1"/>
          </p:cNvSpPr>
          <p:nvPr/>
        </p:nvSpPr>
        <p:spPr>
          <a:xfrm xmlns:a="http://schemas.openxmlformats.org/drawingml/2006/main">
            <a:off x="723900" y="4762500"/>
            <a:ext cx="4000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a:solidFill>
                  <a:srgbClr val="FFFFFF"/>
                </a:solidFill>
                <a:latin typeface="Aptos"/>
                <a:ea typeface="Aptos"/>
                <a:cs typeface="Aptos"/>
              </a:defRPr>
            </a:pPr>
            <a:r>
              <a:rPr sz="1425" b="0">
                <a:solidFill>
                  <a:srgbClr val="FFFFFF"/>
                </a:solidFill>
                <a:latin typeface="Aptos"/>
                <a:ea typeface="Aptos"/>
                <a:cs typeface="Aptos"/>
              </a:rPr>
              <a:t>Investment banking project</a:t>
            </a:r>
          </a:p>
          <a:p xmlns:a="http://schemas.openxmlformats.org/drawingml/2006/main">
            <a:pPr algn="l">
              <a:defRPr sz="1425" b="0">
                <a:solidFill>
                  <a:srgbClr val="FFFFFF"/>
                </a:solidFill>
                <a:latin typeface="Aptos"/>
                <a:ea typeface="Aptos"/>
                <a:cs typeface="Aptos"/>
              </a:defRPr>
            </a:pPr>
            <a:r>
              <a:rPr sz="1425" b="0">
                <a:solidFill>
                  <a:srgbClr val="FFFFFF"/>
                </a:solidFill>
                <a:latin typeface="Aptos"/>
                <a:ea typeface="Aptos"/>
                <a:cs typeface="Aptos"/>
              </a:rPr>
              <a:t>16 September 2026</a:t>
            </a:r>
          </a:p>
        </p:txBody>
      </p:sp>
      <p:sp>
        <p:nvSpPr>
          <p:cNvPr id="6" name="">
            <a:extLst xmlns:a="http://schemas.openxmlformats.org/drawingml/2006/main">
              <a:ext uri="{FF2B5EF4-FFF2-40B4-BE49-F238E27FC236}">
                <a16:creationId xmlns:a16="http://schemas.microsoft.com/office/drawing/2014/main" id="{124632D5-61F2-4AA9-98CA-34A126738CEB}"/>
              </a:ext>
            </a:extLst>
          </p:cNvPr>
          <p:cNvSpPr>
            <a:spLocks xmlns:a="http://schemas.openxmlformats.org/drawingml/2006/main" noGrp="1"/>
          </p:cNvSpPr>
          <p:nvPr/>
        </p:nvSpPr>
        <p:spPr>
          <a:xfrm xmlns:a="http://schemas.openxmlformats.org/drawingml/2006/main">
            <a:off x="723900" y="59245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DCE9F5"/>
                </a:solidFill>
                <a:latin typeface="Aptos"/>
                <a:ea typeface="Aptos"/>
                <a:cs typeface="Aptos"/>
              </a:defRPr>
            </a:pPr>
            <a:r>
              <a:rPr sz="1350" b="1">
                <a:solidFill>
                  <a:srgbClr val="DCE9F5"/>
                </a:solidFill>
                <a:latin typeface="Aptos"/>
                <a:ea typeface="Aptos"/>
                <a:cs typeface="Aptos"/>
              </a:rPr>
              <a:t>Gurjot Singh Dhillon</a:t>
            </a:r>
          </a:p>
        </p:txBody>
      </p:sp>
    </p:spTree>
    <p:extLst>
      <p:ext uri="{BB962C8B-B14F-4D97-AF65-F5344CB8AC3E}">
        <p14:creationId xmlns:p14="http://schemas.microsoft.com/office/powerpoint/2010/main" val="135798775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1E40FB9-541C-467E-9060-F7116AC954D7}"/>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17365D"/>
                </a:solidFill>
                <a:latin typeface="Aptos"/>
                <a:ea typeface="Aptos"/>
                <a:cs typeface="Aptos"/>
              </a:defRPr>
            </a:pPr>
            <a:r>
              <a:rPr sz="2850" b="1">
                <a:solidFill>
                  <a:srgbClr val="17365D"/>
                </a:solidFill>
                <a:latin typeface="Aptos"/>
                <a:ea typeface="Aptos"/>
                <a:cs typeface="Aptos"/>
              </a:rPr>
              <a:t>Valuation conclusion and recommendation</a:t>
            </a:r>
          </a:p>
        </p:txBody>
      </p:sp>
      <p:sp>
        <p:nvSpPr>
          <p:cNvPr id="2" name="">
            <a:extLst xmlns:a="http://schemas.openxmlformats.org/drawingml/2006/main">
              <a:ext uri="{FF2B5EF4-FFF2-40B4-BE49-F238E27FC236}">
                <a16:creationId xmlns:a16="http://schemas.microsoft.com/office/drawing/2014/main" id="{0ECC657B-75B5-413E-BB98-E446A6C825F2}"/>
              </a:ext>
            </a:extLst>
          </p:cNvPr>
          <p:cNvSpPr>
            <a:spLocks xmlns:a="http://schemas.openxmlformats.org/drawingml/2006/main" noGrp="1"/>
          </p:cNvSpPr>
          <p:nvPr/>
        </p:nvSpPr>
        <p:spPr>
          <a:xfrm xmlns:a="http://schemas.openxmlformats.org/drawingml/2006/main">
            <a:off x="628650" y="857250"/>
            <a:ext cx="1093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6717E"/>
                </a:solidFill>
                <a:latin typeface="Aptos"/>
                <a:ea typeface="Aptos"/>
                <a:cs typeface="Aptos"/>
              </a:defRPr>
            </a:pPr>
            <a:r>
              <a:rPr sz="1350" b="0">
                <a:solidFill>
                  <a:srgbClr val="66717E"/>
                </a:solidFill>
                <a:latin typeface="Aptos"/>
                <a:ea typeface="Aptos"/>
                <a:cs typeface="Aptos"/>
              </a:rPr>
              <a:t>The model supports a £5.29 to £5.52 core range and a conditional US sale</a:t>
            </a:r>
          </a:p>
        </p:txBody>
      </p:sp>
      <p:sp>
        <p:nvSpPr>
          <p:cNvPr id="3" name="">
            <a:extLst xmlns:a="http://schemas.openxmlformats.org/drawingml/2006/main">
              <a:ext uri="{FF2B5EF4-FFF2-40B4-BE49-F238E27FC236}">
                <a16:creationId xmlns:a16="http://schemas.microsoft.com/office/drawing/2014/main" id="{D67FD34C-F3FE-4BB7-A4C3-DD84EE3158F9}"/>
              </a:ext>
            </a:extLst>
          </p:cNvPr>
          <p:cNvSpPr>
            <a:spLocks xmlns:a="http://schemas.openxmlformats.org/drawingml/2006/main" noGrp="1"/>
          </p:cNvSpPr>
          <p:nvPr/>
        </p:nvSpPr>
        <p:spPr>
          <a:xfrm xmlns:a="http://schemas.openxmlformats.org/drawingml/2006/main">
            <a:off x="609600" y="1200150"/>
            <a:ext cx="10972800" cy="28575"/>
          </a:xfrm>
          <a:prstGeom xmlns:a="http://schemas.openxmlformats.org/drawingml/2006/main" prst="rect">
            <a:avLst/>
          </a:prstGeom>
          <a:solidFill xmlns:a="http://schemas.openxmlformats.org/drawingml/2006/main">
            <a:srgbClr val="2F75B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36EB515-BB2B-4A9F-A34A-472B8E55BEFC}"/>
              </a:ext>
            </a:extLst>
          </p:cNvPr>
          <p:cNvSpPr>
            <a:spLocks xmlns:a="http://schemas.openxmlformats.org/drawingml/2006/main" noGrp="1"/>
          </p:cNvSpPr>
          <p:nvPr/>
        </p:nvSpPr>
        <p:spPr>
          <a:xfrm xmlns:a="http://schemas.openxmlformats.org/drawingml/2006/main">
            <a:off x="704850" y="1543050"/>
            <a:ext cx="3190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66717E"/>
                </a:solidFill>
                <a:latin typeface="Aptos"/>
                <a:ea typeface="Aptos"/>
                <a:cs typeface="Aptos"/>
              </a:defRPr>
            </a:pPr>
            <a:r>
              <a:rPr sz="1050" b="1">
                <a:solidFill>
                  <a:srgbClr val="66717E"/>
                </a:solidFill>
                <a:latin typeface="Aptos"/>
                <a:ea typeface="Aptos"/>
                <a:cs typeface="Aptos"/>
              </a:rPr>
              <a:t>CORE VALUATION RANGE</a:t>
            </a:r>
          </a:p>
        </p:txBody>
      </p:sp>
      <p:sp>
        <p:nvSpPr>
          <p:cNvPr id="5" name="">
            <a:extLst xmlns:a="http://schemas.openxmlformats.org/drawingml/2006/main">
              <a:ext uri="{FF2B5EF4-FFF2-40B4-BE49-F238E27FC236}">
                <a16:creationId xmlns:a16="http://schemas.microsoft.com/office/drawing/2014/main" id="{393B3703-2A3A-467A-97E6-A5D7FECD97BA}"/>
              </a:ext>
            </a:extLst>
          </p:cNvPr>
          <p:cNvSpPr>
            <a:spLocks xmlns:a="http://schemas.openxmlformats.org/drawingml/2006/main" noGrp="1"/>
          </p:cNvSpPr>
          <p:nvPr/>
        </p:nvSpPr>
        <p:spPr>
          <a:xfrm xmlns:a="http://schemas.openxmlformats.org/drawingml/2006/main">
            <a:off x="704850" y="1781175"/>
            <a:ext cx="3190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17365D"/>
                </a:solidFill>
                <a:latin typeface="Aptos"/>
                <a:ea typeface="Aptos"/>
                <a:cs typeface="Aptos"/>
              </a:defRPr>
            </a:pPr>
            <a:r>
              <a:rPr sz="2550" b="1">
                <a:solidFill>
                  <a:srgbClr val="17365D"/>
                </a:solidFill>
                <a:latin typeface="Aptos"/>
                <a:ea typeface="Aptos"/>
                <a:cs typeface="Aptos"/>
              </a:rPr>
              <a:t>£5.29–£5.52</a:t>
            </a:r>
          </a:p>
        </p:txBody>
      </p:sp>
      <p:sp>
        <p:nvSpPr>
          <p:cNvPr id="6" name="">
            <a:extLst xmlns:a="http://schemas.openxmlformats.org/drawingml/2006/main">
              <a:ext uri="{FF2B5EF4-FFF2-40B4-BE49-F238E27FC236}">
                <a16:creationId xmlns:a16="http://schemas.microsoft.com/office/drawing/2014/main" id="{C61C8CEE-74E8-4821-AE2D-49504135405C}"/>
              </a:ext>
            </a:extLst>
          </p:cNvPr>
          <p:cNvSpPr>
            <a:spLocks xmlns:a="http://schemas.openxmlformats.org/drawingml/2006/main" noGrp="1"/>
          </p:cNvSpPr>
          <p:nvPr/>
        </p:nvSpPr>
        <p:spPr>
          <a:xfrm xmlns:a="http://schemas.openxmlformats.org/drawingml/2006/main">
            <a:off x="704850" y="2247900"/>
            <a:ext cx="3190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20252B"/>
                </a:solidFill>
                <a:latin typeface="Aptos"/>
                <a:ea typeface="Aptos"/>
                <a:cs typeface="Aptos"/>
              </a:defRPr>
            </a:pPr>
            <a:r>
              <a:rPr sz="1200" b="0">
                <a:solidFill>
                  <a:srgbClr val="20252B"/>
                </a:solidFill>
                <a:latin typeface="Aptos"/>
                <a:ea typeface="Aptos"/>
                <a:cs typeface="Aptos"/>
              </a:rPr>
              <a:t>Supported by EBIT trading comps and retain-case DCFs</a:t>
            </a:r>
          </a:p>
        </p:txBody>
      </p:sp>
      <p:sp>
        <p:nvSpPr>
          <p:cNvPr id="7" name="">
            <a:extLst xmlns:a="http://schemas.openxmlformats.org/drawingml/2006/main">
              <a:ext uri="{FF2B5EF4-FFF2-40B4-BE49-F238E27FC236}">
                <a16:creationId xmlns:a16="http://schemas.microsoft.com/office/drawing/2014/main" id="{5C3A49D4-4282-4C16-A6C7-B42A2297EFF5}"/>
              </a:ext>
            </a:extLst>
          </p:cNvPr>
          <p:cNvSpPr>
            <a:spLocks xmlns:a="http://schemas.openxmlformats.org/drawingml/2006/main" noGrp="1"/>
          </p:cNvSpPr>
          <p:nvPr/>
        </p:nvSpPr>
        <p:spPr>
          <a:xfrm xmlns:a="http://schemas.openxmlformats.org/drawingml/2006/main">
            <a:off x="4476750" y="1543050"/>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66717E"/>
                </a:solidFill>
                <a:latin typeface="Aptos"/>
                <a:ea typeface="Aptos"/>
                <a:cs typeface="Aptos"/>
              </a:defRPr>
            </a:pPr>
            <a:r>
              <a:rPr sz="1050" b="1">
                <a:solidFill>
                  <a:srgbClr val="66717E"/>
                </a:solidFill>
                <a:latin typeface="Aptos"/>
                <a:ea typeface="Aptos"/>
                <a:cs typeface="Aptos"/>
              </a:rPr>
              <a:t>CENTRAL VALUE</a:t>
            </a:r>
          </a:p>
        </p:txBody>
      </p:sp>
      <p:sp>
        <p:nvSpPr>
          <p:cNvPr id="8" name="">
            <a:extLst xmlns:a="http://schemas.openxmlformats.org/drawingml/2006/main">
              <a:ext uri="{FF2B5EF4-FFF2-40B4-BE49-F238E27FC236}">
                <a16:creationId xmlns:a16="http://schemas.microsoft.com/office/drawing/2014/main" id="{FD6D63E7-2787-4623-B59B-0E3F3FFD0118}"/>
              </a:ext>
            </a:extLst>
          </p:cNvPr>
          <p:cNvSpPr>
            <a:spLocks xmlns:a="http://schemas.openxmlformats.org/drawingml/2006/main" noGrp="1"/>
          </p:cNvSpPr>
          <p:nvPr/>
        </p:nvSpPr>
        <p:spPr>
          <a:xfrm xmlns:a="http://schemas.openxmlformats.org/drawingml/2006/main">
            <a:off x="4476750" y="1781175"/>
            <a:ext cx="295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2F75B5"/>
                </a:solidFill>
                <a:latin typeface="Aptos"/>
                <a:ea typeface="Aptos"/>
                <a:cs typeface="Aptos"/>
              </a:defRPr>
            </a:pPr>
            <a:r>
              <a:rPr sz="2550" b="1">
                <a:solidFill>
                  <a:srgbClr val="2F75B5"/>
                </a:solidFill>
                <a:latin typeface="Aptos"/>
                <a:ea typeface="Aptos"/>
                <a:cs typeface="Aptos"/>
              </a:rPr>
              <a:t>£5.40</a:t>
            </a:r>
          </a:p>
        </p:txBody>
      </p:sp>
      <p:sp>
        <p:nvSpPr>
          <p:cNvPr id="9" name="">
            <a:extLst xmlns:a="http://schemas.openxmlformats.org/drawingml/2006/main">
              <a:ext uri="{FF2B5EF4-FFF2-40B4-BE49-F238E27FC236}">
                <a16:creationId xmlns:a16="http://schemas.microsoft.com/office/drawing/2014/main" id="{F19CC524-498B-418F-AF95-D206C3D69C52}"/>
              </a:ext>
            </a:extLst>
          </p:cNvPr>
          <p:cNvSpPr>
            <a:spLocks xmlns:a="http://schemas.openxmlformats.org/drawingml/2006/main" noGrp="1"/>
          </p:cNvSpPr>
          <p:nvPr/>
        </p:nvSpPr>
        <p:spPr>
          <a:xfrm xmlns:a="http://schemas.openxmlformats.org/drawingml/2006/main">
            <a:off x="4476750" y="2247900"/>
            <a:ext cx="295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20252B"/>
                </a:solidFill>
                <a:latin typeface="Aptos"/>
                <a:ea typeface="Aptos"/>
                <a:cs typeface="Aptos"/>
              </a:defRPr>
            </a:pPr>
            <a:r>
              <a:rPr sz="1200" b="0">
                <a:solidFill>
                  <a:srgbClr val="20252B"/>
                </a:solidFill>
                <a:latin typeface="Aptos"/>
                <a:ea typeface="Aptos"/>
                <a:cs typeface="Aptos"/>
              </a:rPr>
              <a:t>Approximately 16% above the £4.66 research-date price</a:t>
            </a:r>
          </a:p>
        </p:txBody>
      </p:sp>
      <p:sp>
        <p:nvSpPr>
          <p:cNvPr id="10" name="">
            <a:extLst xmlns:a="http://schemas.openxmlformats.org/drawingml/2006/main">
              <a:ext uri="{FF2B5EF4-FFF2-40B4-BE49-F238E27FC236}">
                <a16:creationId xmlns:a16="http://schemas.microsoft.com/office/drawing/2014/main" id="{6262F6B2-9FD0-4DC1-BAFA-3F8C4CE84210}"/>
              </a:ext>
            </a:extLst>
          </p:cNvPr>
          <p:cNvSpPr>
            <a:spLocks xmlns:a="http://schemas.openxmlformats.org/drawingml/2006/main" noGrp="1"/>
          </p:cNvSpPr>
          <p:nvPr/>
        </p:nvSpPr>
        <p:spPr>
          <a:xfrm xmlns:a="http://schemas.openxmlformats.org/drawingml/2006/main">
            <a:off x="8020050" y="15430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66717E"/>
                </a:solidFill>
                <a:latin typeface="Aptos"/>
                <a:ea typeface="Aptos"/>
                <a:cs typeface="Aptos"/>
              </a:defRPr>
            </a:pPr>
            <a:r>
              <a:rPr sz="1050" b="1">
                <a:solidFill>
                  <a:srgbClr val="66717E"/>
                </a:solidFill>
                <a:latin typeface="Aptos"/>
                <a:ea typeface="Aptos"/>
                <a:cs typeface="Aptos"/>
              </a:rPr>
              <a:t>PREFERRED SALE LEVEL</a:t>
            </a:r>
          </a:p>
        </p:txBody>
      </p:sp>
      <p:sp>
        <p:nvSpPr>
          <p:cNvPr id="11" name="">
            <a:extLst xmlns:a="http://schemas.openxmlformats.org/drawingml/2006/main">
              <a:ext uri="{FF2B5EF4-FFF2-40B4-BE49-F238E27FC236}">
                <a16:creationId xmlns:a16="http://schemas.microsoft.com/office/drawing/2014/main" id="{9CAAEA90-4316-45DD-A588-C493A23F17EB}"/>
              </a:ext>
            </a:extLst>
          </p:cNvPr>
          <p:cNvSpPr>
            <a:spLocks xmlns:a="http://schemas.openxmlformats.org/drawingml/2006/main" noGrp="1"/>
          </p:cNvSpPr>
          <p:nvPr/>
        </p:nvSpPr>
        <p:spPr>
          <a:xfrm xmlns:a="http://schemas.openxmlformats.org/drawingml/2006/main">
            <a:off x="8020050" y="1781175"/>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2E7D5B"/>
                </a:solidFill>
                <a:latin typeface="Aptos"/>
                <a:ea typeface="Aptos"/>
                <a:cs typeface="Aptos"/>
              </a:defRPr>
            </a:pPr>
            <a:r>
              <a:rPr sz="2550" b="1">
                <a:solidFill>
                  <a:srgbClr val="2E7D5B"/>
                </a:solidFill>
                <a:latin typeface="Aptos"/>
                <a:ea typeface="Aptos"/>
                <a:cs typeface="Aptos"/>
              </a:rPr>
              <a:t>~1.50x</a:t>
            </a:r>
          </a:p>
        </p:txBody>
      </p:sp>
      <p:sp>
        <p:nvSpPr>
          <p:cNvPr id="12" name="">
            <a:extLst xmlns:a="http://schemas.openxmlformats.org/drawingml/2006/main">
              <a:ext uri="{FF2B5EF4-FFF2-40B4-BE49-F238E27FC236}">
                <a16:creationId xmlns:a16="http://schemas.microsoft.com/office/drawing/2014/main" id="{F1BC762F-A3DB-4053-A5A1-30F90A9E228D}"/>
              </a:ext>
            </a:extLst>
          </p:cNvPr>
          <p:cNvSpPr>
            <a:spLocks xmlns:a="http://schemas.openxmlformats.org/drawingml/2006/main" noGrp="1"/>
          </p:cNvSpPr>
          <p:nvPr/>
        </p:nvSpPr>
        <p:spPr>
          <a:xfrm xmlns:a="http://schemas.openxmlformats.org/drawingml/2006/main">
            <a:off x="8020050" y="224790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20252B"/>
                </a:solidFill>
                <a:latin typeface="Aptos"/>
                <a:ea typeface="Aptos"/>
                <a:cs typeface="Aptos"/>
              </a:defRPr>
            </a:pPr>
            <a:r>
              <a:rPr sz="1200" b="0">
                <a:solidFill>
                  <a:srgbClr val="20252B"/>
                </a:solidFill>
                <a:latin typeface="Aptos"/>
                <a:ea typeface="Aptos"/>
                <a:cs typeface="Aptos"/>
              </a:rPr>
              <a:t>At least 1.25x revenue; 1.13x is only break-even</a:t>
            </a:r>
          </a:p>
        </p:txBody>
      </p:sp>
      <p:graphicFrame>
        <p:nvGraphicFramePr>
          <p:cNvPr id="30" name=""/>
          <p:cNvGraphicFramePr/>
          <p:nvPr/>
        </p:nvGraphicFramePr>
        <p:xfrm>
          <a:off xmlns:a="http://schemas.openxmlformats.org/drawingml/2006/main" x="704850" y="3190875"/>
          <a:ext xmlns:a="http://schemas.openxmlformats.org/drawingml/2006/main" cx="10648950" cy="2190750"/>
        </p:xfrm>
        <a:graphic xmlns:a="http://schemas.openxmlformats.org/drawingml/2006/main">
          <a:graphicData uri="http://schemas.openxmlformats.org/drawingml/2006/table">
            <a:tbl>
              <a:tblPr/>
              <a:tblGrid>
                <a:gridCol w="3095625"/>
                <a:gridCol w="1809750"/>
                <a:gridCol w="5743575"/>
              </a:tblGrid>
              <a:tr h="547688">
                <a:tc>
                  <a:txBody>
                    <a:bodyPr/>
                    <a:lstStyle/>
                    <a:p>
                      <a:pPr algn="ctr"/>
                      <a:r>
                        <a:rPr sz="1275" b="1">
                          <a:solidFill>
                            <a:srgbClr val="FFFFFF"/>
                          </a:solidFill>
                          <a:latin typeface="Aptos"/>
                          <a:ea typeface="Aptos"/>
                          <a:cs typeface="Aptos"/>
                        </a:rPr>
                        <a:t>Evidence</a:t>
                      </a:r>
                    </a:p>
                  </a:txBody>
                  <a:tcPr marL="95250" marR="95250" marT="57150" marB="57150" anchor="ctr">
                    <a:solidFill>
                      <a:srgbClr val="17365D"/>
                    </a:solidFill>
                  </a:tcPr>
                </a:tc>
                <a:tc>
                  <a:txBody>
                    <a:bodyPr/>
                    <a:lstStyle/>
                    <a:p>
                      <a:pPr algn="ctr"/>
                      <a:r>
                        <a:rPr sz="1275" b="1">
                          <a:solidFill>
                            <a:srgbClr val="FFFFFF"/>
                          </a:solidFill>
                          <a:latin typeface="Aptos"/>
                          <a:ea typeface="Aptos"/>
                          <a:cs typeface="Aptos"/>
                        </a:rPr>
                        <a:t>Value per share</a:t>
                      </a:r>
                    </a:p>
                  </a:txBody>
                  <a:tcPr marL="95250" marR="95250" marT="57150" marB="57150" anchor="ctr">
                    <a:solidFill>
                      <a:srgbClr val="17365D"/>
                    </a:solidFill>
                  </a:tcPr>
                </a:tc>
                <a:tc>
                  <a:txBody>
                    <a:bodyPr/>
                    <a:lstStyle/>
                    <a:p>
                      <a:pPr algn="ctr"/>
                      <a:r>
                        <a:rPr sz="1275" b="1">
                          <a:solidFill>
                            <a:srgbClr val="FFFFFF"/>
                          </a:solidFill>
                          <a:latin typeface="Aptos"/>
                          <a:ea typeface="Aptos"/>
                          <a:cs typeface="Aptos"/>
                        </a:rPr>
                        <a:t>Interpretation</a:t>
                      </a:r>
                    </a:p>
                  </a:txBody>
                  <a:tcPr marL="95250" marR="95250" marT="57150" marB="57150" anchor="ctr">
                    <a:solidFill>
                      <a:srgbClr val="17365D"/>
                    </a:solidFill>
                  </a:tcPr>
                </a:tc>
              </a:tr>
              <a:tr h="547688">
                <a:tc>
                  <a:txBody>
                    <a:bodyPr/>
                    <a:lstStyle/>
                    <a:p>
                      <a:pPr algn="l"/>
                      <a:r>
                        <a:rPr sz="1275">
                          <a:solidFill>
                            <a:srgbClr val="20252B"/>
                          </a:solidFill>
                          <a:latin typeface="Aptos"/>
                          <a:ea typeface="Aptos"/>
                          <a:cs typeface="Aptos"/>
                        </a:rPr>
                        <a:t>Operating profit trading comps</a:t>
                      </a:r>
                    </a:p>
                  </a:txBody>
                  <a:tcPr marL="95250" marR="95250" marT="47625" marB="47625" anchor="ctr"/>
                </a:tc>
                <a:tc>
                  <a:txBody>
                    <a:bodyPr/>
                    <a:lstStyle/>
                    <a:p>
                      <a:pPr algn="ctr"/>
                      <a:r>
                        <a:rPr sz="1350" b="1">
                          <a:solidFill>
                            <a:srgbClr val="17365D"/>
                          </a:solidFill>
                          <a:latin typeface="Aptos"/>
                          <a:ea typeface="Aptos"/>
                          <a:cs typeface="Aptos"/>
                        </a:rPr>
                        <a:t>£5.29</a:t>
                      </a:r>
                    </a:p>
                  </a:txBody>
                  <a:tcPr marL="95250" marR="95250" marT="47625" marB="47625" anchor="ctr"/>
                </a:tc>
                <a:tc>
                  <a:txBody>
                    <a:bodyPr/>
                    <a:lstStyle/>
                    <a:p>
                      <a:pPr algn="ctr"/>
                      <a:r>
                        <a:rPr sz="1275">
                          <a:solidFill>
                            <a:srgbClr val="20252B"/>
                          </a:solidFill>
                          <a:latin typeface="Aptos"/>
                          <a:ea typeface="Aptos"/>
                          <a:cs typeface="Aptos"/>
                        </a:rPr>
                        <a:t>Most relevant public-market cross-check</a:t>
                      </a:r>
                    </a:p>
                  </a:txBody>
                  <a:tcPr marL="95250" marR="95250" marT="47625" marB="47625" anchor="ctr"/>
                </a:tc>
              </a:tr>
              <a:tr h="547688">
                <a:tc>
                  <a:txBody>
                    <a:bodyPr/>
                    <a:lstStyle/>
                    <a:p>
                      <a:pPr algn="l"/>
                      <a:r>
                        <a:rPr sz="1275">
                          <a:solidFill>
                            <a:srgbClr val="20252B"/>
                          </a:solidFill>
                          <a:latin typeface="Aptos"/>
                          <a:ea typeface="Aptos"/>
                          <a:cs typeface="Aptos"/>
                        </a:rPr>
                        <a:t>Base DCF</a:t>
                      </a:r>
                    </a:p>
                  </a:txBody>
                  <a:tcPr marL="95250" marR="95250" marT="47625" marB="47625" anchor="ctr">
                    <a:solidFill>
                      <a:srgbClr val="F4F7FA"/>
                    </a:solidFill>
                  </a:tcPr>
                </a:tc>
                <a:tc>
                  <a:txBody>
                    <a:bodyPr/>
                    <a:lstStyle/>
                    <a:p>
                      <a:pPr algn="ctr"/>
                      <a:r>
                        <a:rPr sz="1350" b="1">
                          <a:solidFill>
                            <a:srgbClr val="17365D"/>
                          </a:solidFill>
                          <a:latin typeface="Aptos"/>
                          <a:ea typeface="Aptos"/>
                          <a:cs typeface="Aptos"/>
                        </a:rPr>
                        <a:t>£5.51</a:t>
                      </a:r>
                    </a:p>
                  </a:txBody>
                  <a:tcPr marL="95250" marR="95250" marT="47625" marB="47625" anchor="ctr">
                    <a:solidFill>
                      <a:srgbClr val="F4F7FA"/>
                    </a:solidFill>
                  </a:tcPr>
                </a:tc>
                <a:tc>
                  <a:txBody>
                    <a:bodyPr/>
                    <a:lstStyle/>
                    <a:p>
                      <a:pPr algn="ctr"/>
                      <a:r>
                        <a:rPr sz="1275">
                          <a:solidFill>
                            <a:srgbClr val="20252B"/>
                          </a:solidFill>
                          <a:latin typeface="Aptos"/>
                          <a:ea typeface="Aptos"/>
                          <a:cs typeface="Aptos"/>
                        </a:rPr>
                        <a:t>Retain with limited improvement</a:t>
                      </a:r>
                    </a:p>
                  </a:txBody>
                  <a:tcPr marL="95250" marR="95250" marT="47625" marB="47625" anchor="ctr">
                    <a:solidFill>
                      <a:srgbClr val="F4F7FA"/>
                    </a:solidFill>
                  </a:tcPr>
                </a:tc>
              </a:tr>
              <a:tr h="547688">
                <a:tc>
                  <a:txBody>
                    <a:bodyPr/>
                    <a:lstStyle/>
                    <a:p>
                      <a:pPr algn="l"/>
                      <a:r>
                        <a:rPr sz="1275">
                          <a:solidFill>
                            <a:srgbClr val="20252B"/>
                          </a:solidFill>
                          <a:latin typeface="Aptos"/>
                          <a:ea typeface="Aptos"/>
                          <a:cs typeface="Aptos"/>
                        </a:rPr>
                        <a:t>Restructuring DCF</a:t>
                      </a:r>
                    </a:p>
                  </a:txBody>
                  <a:tcPr marL="95250" marR="95250" marT="47625" marB="47625" anchor="ctr"/>
                </a:tc>
                <a:tc>
                  <a:txBody>
                    <a:bodyPr/>
                    <a:lstStyle/>
                    <a:p>
                      <a:pPr algn="ctr"/>
                      <a:r>
                        <a:rPr sz="1350" b="1">
                          <a:solidFill>
                            <a:srgbClr val="17365D"/>
                          </a:solidFill>
                          <a:latin typeface="Aptos"/>
                          <a:ea typeface="Aptos"/>
                          <a:cs typeface="Aptos"/>
                        </a:rPr>
                        <a:t>£5.52</a:t>
                      </a:r>
                    </a:p>
                  </a:txBody>
                  <a:tcPr marL="95250" marR="95250" marT="47625" marB="47625" anchor="ctr"/>
                </a:tc>
                <a:tc>
                  <a:txBody>
                    <a:bodyPr/>
                    <a:lstStyle/>
                    <a:p>
                      <a:pPr algn="ctr"/>
                      <a:r>
                        <a:rPr sz="1275">
                          <a:solidFill>
                            <a:srgbClr val="20252B"/>
                          </a:solidFill>
                          <a:latin typeface="Aptos"/>
                          <a:ea typeface="Aptos"/>
                          <a:cs typeface="Aptos"/>
                        </a:rPr>
                        <a:t>Only £0.01 above base after implementation costs</a:t>
                      </a:r>
                    </a:p>
                  </a:txBody>
                  <a:tcPr marL="95250" marR="95250" marT="47625" marB="47625" anchor="ctr"/>
                </a:tc>
              </a:tr>
            </a:tbl>
          </a:graphicData>
        </a:graphic>
      </p:graphicFrame>
      <p:sp>
        <p:nvSpPr>
          <p:cNvPr id="14" name="">
            <a:extLst xmlns:a="http://schemas.openxmlformats.org/drawingml/2006/main">
              <a:ext uri="{FF2B5EF4-FFF2-40B4-BE49-F238E27FC236}">
                <a16:creationId xmlns:a16="http://schemas.microsoft.com/office/drawing/2014/main" id="{AC284A0B-B2E2-4406-8883-164DA476492A}"/>
              </a:ext>
            </a:extLst>
          </p:cNvPr>
          <p:cNvSpPr>
            <a:spLocks xmlns:a="http://schemas.openxmlformats.org/drawingml/2006/main" noGrp="1"/>
          </p:cNvSpPr>
          <p:nvPr/>
        </p:nvSpPr>
        <p:spPr>
          <a:xfrm xmlns:a="http://schemas.openxmlformats.org/drawingml/2006/main">
            <a:off x="704850" y="5667375"/>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17365D"/>
                </a:solidFill>
                <a:latin typeface="Aptos"/>
                <a:ea typeface="Aptos"/>
                <a:cs typeface="Aptos"/>
              </a:defRPr>
            </a:pPr>
            <a:r>
              <a:rPr sz="1350" b="1">
                <a:solidFill>
                  <a:srgbClr val="17365D"/>
                </a:solidFill>
                <a:latin typeface="Aptos"/>
                <a:ea typeface="Aptos"/>
                <a:cs typeface="Aptos"/>
              </a:rPr>
              <a:t>Recommendation</a:t>
            </a:r>
          </a:p>
        </p:txBody>
      </p:sp>
      <p:sp>
        <p:nvSpPr>
          <p:cNvPr id="15" name="">
            <a:extLst xmlns:a="http://schemas.openxmlformats.org/drawingml/2006/main">
              <a:ext uri="{FF2B5EF4-FFF2-40B4-BE49-F238E27FC236}">
                <a16:creationId xmlns:a16="http://schemas.microsoft.com/office/drawing/2014/main" id="{39FFC583-724B-4427-80CC-0DE32E18FDD4}"/>
              </a:ext>
            </a:extLst>
          </p:cNvPr>
          <p:cNvSpPr>
            <a:spLocks xmlns:a="http://schemas.openxmlformats.org/drawingml/2006/main" noGrp="1"/>
          </p:cNvSpPr>
          <p:nvPr/>
        </p:nvSpPr>
        <p:spPr>
          <a:xfrm xmlns:a="http://schemas.openxmlformats.org/drawingml/2006/main">
            <a:off x="2476500" y="5600700"/>
            <a:ext cx="8877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a:solidFill>
                  <a:srgbClr val="20252B"/>
                </a:solidFill>
                <a:latin typeface="Aptos"/>
                <a:ea typeface="Aptos"/>
                <a:cs typeface="Aptos"/>
              </a:defRPr>
            </a:pPr>
            <a:r>
              <a:rPr sz="1425" b="0">
                <a:solidFill>
                  <a:srgbClr val="20252B"/>
                </a:solidFill>
                <a:latin typeface="Aptos"/>
                <a:ea typeface="Aptos"/>
                <a:cs typeface="Aptos"/>
              </a:rPr>
              <a:t>Continue improving Global Solutions while running a competitive process. Sell only if the price compensates for lost cash flows and transaction leakage.</a:t>
            </a:r>
          </a:p>
        </p:txBody>
      </p:sp>
      <p:sp>
        <p:nvSpPr>
          <p:cNvPr id="16" name="">
            <a:extLst xmlns:a="http://schemas.openxmlformats.org/drawingml/2006/main">
              <a:ext uri="{FF2B5EF4-FFF2-40B4-BE49-F238E27FC236}">
                <a16:creationId xmlns:a16="http://schemas.microsoft.com/office/drawing/2014/main" id="{B5469890-B9AE-4A8C-BD3F-39E458C07C33}"/>
              </a:ext>
            </a:extLst>
          </p:cNvPr>
          <p:cNvSpPr>
            <a:spLocks xmlns:a="http://schemas.openxmlformats.org/drawingml/2006/main" noGrp="1"/>
          </p:cNvSpPr>
          <p:nvPr/>
        </p:nvSpPr>
        <p:spPr>
          <a:xfrm xmlns:a="http://schemas.openxmlformats.org/drawingml/2006/main">
            <a:off x="609600" y="651510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66717E"/>
                </a:solidFill>
                <a:latin typeface="Aptos"/>
                <a:ea typeface="Aptos"/>
                <a:cs typeface="Aptos"/>
              </a:defRPr>
            </a:pPr>
            <a:r>
              <a:rPr sz="900" b="0">
                <a:solidFill>
                  <a:srgbClr val="66717E"/>
                </a:solidFill>
                <a:latin typeface="Aptos"/>
                <a:ea typeface="Aptos"/>
                <a:cs typeface="Aptos"/>
              </a:rPr>
              <a:t>QinetiQ valuation and strategic review</a:t>
            </a:r>
          </a:p>
        </p:txBody>
      </p:sp>
      <p:sp>
        <p:nvSpPr>
          <p:cNvPr id="17" name="">
            <a:extLst xmlns:a="http://schemas.openxmlformats.org/drawingml/2006/main">
              <a:ext uri="{FF2B5EF4-FFF2-40B4-BE49-F238E27FC236}">
                <a16:creationId xmlns:a16="http://schemas.microsoft.com/office/drawing/2014/main" id="{146BAB31-7338-4981-86A2-CC2BE0CA7FB8}"/>
              </a:ext>
            </a:extLst>
          </p:cNvPr>
          <p:cNvSpPr>
            <a:spLocks xmlns:a="http://schemas.openxmlformats.org/drawingml/2006/main" noGrp="1"/>
          </p:cNvSpPr>
          <p:nvPr/>
        </p:nvSpPr>
        <p:spPr>
          <a:xfrm xmlns:a="http://schemas.openxmlformats.org/drawingml/2006/main">
            <a:off x="11029950" y="6515100"/>
            <a:ext cx="552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66717E"/>
                </a:solidFill>
                <a:latin typeface="Aptos"/>
                <a:ea typeface="Aptos"/>
                <a:cs typeface="Aptos"/>
              </a:defRPr>
            </a:pPr>
            <a:r>
              <a:rPr sz="900" b="0">
                <a:solidFill>
                  <a:srgbClr val="66717E"/>
                </a:solidFill>
                <a:latin typeface="Aptos"/>
                <a:ea typeface="Aptos"/>
                <a:cs typeface="Aptos"/>
              </a:rPr>
              <a:t>2</a:t>
            </a:r>
          </a:p>
        </p:txBody>
      </p:sp>
    </p:spTree>
    <p:extLst>
      <p:ext uri="{BB962C8B-B14F-4D97-AF65-F5344CB8AC3E}">
        <p14:creationId xmlns:p14="http://schemas.microsoft.com/office/powerpoint/2010/main" val="186360615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9DAC605-BF0E-41BA-8467-4294C065F45E}"/>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17365D"/>
                </a:solidFill>
                <a:latin typeface="Aptos"/>
                <a:ea typeface="Aptos"/>
                <a:cs typeface="Aptos"/>
              </a:defRPr>
            </a:pPr>
            <a:r>
              <a:rPr sz="2850" b="1">
                <a:solidFill>
                  <a:srgbClr val="17365D"/>
                </a:solidFill>
                <a:latin typeface="Aptos"/>
                <a:ea typeface="Aptos"/>
                <a:cs typeface="Aptos"/>
              </a:rPr>
              <a:t>Business profile and strategic question</a:t>
            </a:r>
          </a:p>
        </p:txBody>
      </p:sp>
      <p:sp>
        <p:nvSpPr>
          <p:cNvPr id="2" name="">
            <a:extLst xmlns:a="http://schemas.openxmlformats.org/drawingml/2006/main">
              <a:ext uri="{FF2B5EF4-FFF2-40B4-BE49-F238E27FC236}">
                <a16:creationId xmlns:a16="http://schemas.microsoft.com/office/drawing/2014/main" id="{3B885D44-1DBA-4322-BF35-E2963E112AC8}"/>
              </a:ext>
            </a:extLst>
          </p:cNvPr>
          <p:cNvSpPr>
            <a:spLocks xmlns:a="http://schemas.openxmlformats.org/drawingml/2006/main" noGrp="1"/>
          </p:cNvSpPr>
          <p:nvPr/>
        </p:nvSpPr>
        <p:spPr>
          <a:xfrm xmlns:a="http://schemas.openxmlformats.org/drawingml/2006/main">
            <a:off x="628650" y="857250"/>
            <a:ext cx="1093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6717E"/>
                </a:solidFill>
                <a:latin typeface="Aptos"/>
                <a:ea typeface="Aptos"/>
                <a:cs typeface="Aptos"/>
              </a:defRPr>
            </a:pPr>
            <a:r>
              <a:rPr sz="1350" b="0">
                <a:solidFill>
                  <a:srgbClr val="66717E"/>
                </a:solidFill>
                <a:latin typeface="Aptos"/>
                <a:ea typeface="Aptos"/>
                <a:cs typeface="Aptos"/>
              </a:rPr>
              <a:t>EMEA provides scale and visibility; Global Solutions creates the main execution uncertainty</a:t>
            </a:r>
          </a:p>
        </p:txBody>
      </p:sp>
      <p:sp>
        <p:nvSpPr>
          <p:cNvPr id="3" name="">
            <a:extLst xmlns:a="http://schemas.openxmlformats.org/drawingml/2006/main">
              <a:ext uri="{FF2B5EF4-FFF2-40B4-BE49-F238E27FC236}">
                <a16:creationId xmlns:a16="http://schemas.microsoft.com/office/drawing/2014/main" id="{9F990447-1EB3-4AE1-832B-97403FAE2062}"/>
              </a:ext>
            </a:extLst>
          </p:cNvPr>
          <p:cNvSpPr>
            <a:spLocks xmlns:a="http://schemas.openxmlformats.org/drawingml/2006/main" noGrp="1"/>
          </p:cNvSpPr>
          <p:nvPr/>
        </p:nvSpPr>
        <p:spPr>
          <a:xfrm xmlns:a="http://schemas.openxmlformats.org/drawingml/2006/main">
            <a:off x="609600" y="1200150"/>
            <a:ext cx="10972800" cy="28575"/>
          </a:xfrm>
          <a:prstGeom xmlns:a="http://schemas.openxmlformats.org/drawingml/2006/main" prst="rect">
            <a:avLst/>
          </a:prstGeom>
          <a:solidFill xmlns:a="http://schemas.openxmlformats.org/drawingml/2006/main">
            <a:srgbClr val="2F75B5"/>
          </a:solidFill>
          <a:ln xmlns:a="http://schemas.openxmlformats.org/drawingml/2006/main" w="0">
            <a:noFill/>
          </a:ln>
        </p:spPr>
      </p:sp>
      <p:graphicFrame>
        <p:nvGraphicFramePr>
          <p:cNvPr id="14" name=""/>
          <p:cNvGraphicFramePr/>
          <p:nvPr/>
        </p:nvGraphicFramePr>
        <p:xfrm>
          <a:off xmlns:a="http://schemas.openxmlformats.org/drawingml/2006/main" x="666750" y="1571625"/>
          <a:ext xmlns:a="http://schemas.openxmlformats.org/drawingml/2006/main" cx="6953250" cy="3143250"/>
        </p:xfrm>
        <a:graphic xmlns:a="http://schemas.openxmlformats.org/drawingml/2006/main">
          <a:graphicData uri="http://schemas.openxmlformats.org/drawingml/2006/table">
            <a:tbl>
              <a:tblPr/>
              <a:tblGrid>
                <a:gridCol w="2524125"/>
                <a:gridCol w="2190750"/>
                <a:gridCol w="2238375"/>
              </a:tblGrid>
              <a:tr h="628650">
                <a:tc>
                  <a:txBody>
                    <a:bodyPr/>
                    <a:lstStyle/>
                    <a:p>
                      <a:pPr algn="ctr"/>
                      <a:r>
                        <a:rPr sz="1275" b="1">
                          <a:solidFill>
                            <a:srgbClr val="FFFFFF"/>
                          </a:solidFill>
                          <a:latin typeface="Aptos"/>
                          <a:ea typeface="Aptos"/>
                          <a:cs typeface="Aptos"/>
                        </a:rPr>
                        <a:t>FY26</a:t>
                      </a:r>
                    </a:p>
                  </a:txBody>
                  <a:tcPr marL="95250" marR="95250" marT="57150" marB="57150" anchor="ctr">
                    <a:solidFill>
                      <a:srgbClr val="17365D"/>
                    </a:solidFill>
                  </a:tcPr>
                </a:tc>
                <a:tc>
                  <a:txBody>
                    <a:bodyPr/>
                    <a:lstStyle/>
                    <a:p>
                      <a:pPr algn="ctr"/>
                      <a:r>
                        <a:rPr sz="1275" b="1">
                          <a:solidFill>
                            <a:srgbClr val="FFFFFF"/>
                          </a:solidFill>
                          <a:latin typeface="Aptos"/>
                          <a:ea typeface="Aptos"/>
                          <a:cs typeface="Aptos"/>
                        </a:rPr>
                        <a:t>EMEA Services</a:t>
                      </a:r>
                    </a:p>
                  </a:txBody>
                  <a:tcPr marL="95250" marR="95250" marT="57150" marB="57150" anchor="ctr">
                    <a:solidFill>
                      <a:srgbClr val="17365D"/>
                    </a:solidFill>
                  </a:tcPr>
                </a:tc>
                <a:tc>
                  <a:txBody>
                    <a:bodyPr/>
                    <a:lstStyle/>
                    <a:p>
                      <a:pPr algn="ctr"/>
                      <a:r>
                        <a:rPr sz="1275" b="1">
                          <a:solidFill>
                            <a:srgbClr val="FFFFFF"/>
                          </a:solidFill>
                          <a:latin typeface="Aptos"/>
                          <a:ea typeface="Aptos"/>
                          <a:cs typeface="Aptos"/>
                        </a:rPr>
                        <a:t>Global Solutions</a:t>
                      </a:r>
                    </a:p>
                  </a:txBody>
                  <a:tcPr marL="95250" marR="95250" marT="57150" marB="57150" anchor="ctr">
                    <a:solidFill>
                      <a:srgbClr val="17365D"/>
                    </a:solidFill>
                  </a:tcPr>
                </a:tc>
              </a:tr>
              <a:tr h="628650">
                <a:tc>
                  <a:txBody>
                    <a:bodyPr/>
                    <a:lstStyle/>
                    <a:p>
                      <a:pPr algn="l"/>
                      <a:r>
                        <a:rPr sz="1275">
                          <a:solidFill>
                            <a:srgbClr val="20252B"/>
                          </a:solidFill>
                          <a:latin typeface="Aptos"/>
                          <a:ea typeface="Aptos"/>
                          <a:cs typeface="Aptos"/>
                        </a:rPr>
                        <a:t>Revenue</a:t>
                      </a:r>
                    </a:p>
                  </a:txBody>
                  <a:tcPr marL="95250" marR="95250" marT="47625" marB="47625" anchor="ctr"/>
                </a:tc>
                <a:tc>
                  <a:txBody>
                    <a:bodyPr/>
                    <a:lstStyle/>
                    <a:p>
                      <a:pPr algn="ctr"/>
                      <a:r>
                        <a:rPr sz="1275">
                          <a:solidFill>
                            <a:srgbClr val="20252B"/>
                          </a:solidFill>
                          <a:latin typeface="Aptos"/>
                          <a:ea typeface="Aptos"/>
                          <a:cs typeface="Aptos"/>
                        </a:rPr>
                        <a:t>£1,529m</a:t>
                      </a:r>
                    </a:p>
                  </a:txBody>
                  <a:tcPr marL="95250" marR="95250" marT="47625" marB="47625" anchor="ctr"/>
                </a:tc>
                <a:tc>
                  <a:txBody>
                    <a:bodyPr/>
                    <a:lstStyle/>
                    <a:p>
                      <a:pPr algn="ctr"/>
                      <a:r>
                        <a:rPr sz="1275">
                          <a:solidFill>
                            <a:srgbClr val="20252B"/>
                          </a:solidFill>
                          <a:latin typeface="Aptos"/>
                          <a:ea typeface="Aptos"/>
                          <a:cs typeface="Aptos"/>
                        </a:rPr>
                        <a:t>£393m</a:t>
                      </a:r>
                    </a:p>
                  </a:txBody>
                  <a:tcPr marL="95250" marR="95250" marT="47625" marB="47625" anchor="ctr"/>
                </a:tc>
              </a:tr>
              <a:tr h="628650">
                <a:tc>
                  <a:txBody>
                    <a:bodyPr/>
                    <a:lstStyle/>
                    <a:p>
                      <a:pPr algn="l"/>
                      <a:r>
                        <a:rPr sz="1275">
                          <a:solidFill>
                            <a:srgbClr val="20252B"/>
                          </a:solidFill>
                          <a:latin typeface="Aptos"/>
                          <a:ea typeface="Aptos"/>
                          <a:cs typeface="Aptos"/>
                        </a:rPr>
                        <a:t>Underlying operating profit</a:t>
                      </a:r>
                    </a:p>
                  </a:txBody>
                  <a:tcPr marL="95250" marR="95250" marT="47625" marB="47625" anchor="ctr">
                    <a:solidFill>
                      <a:srgbClr val="F4F7FA"/>
                    </a:solidFill>
                  </a:tcPr>
                </a:tc>
                <a:tc>
                  <a:txBody>
                    <a:bodyPr/>
                    <a:lstStyle/>
                    <a:p>
                      <a:pPr algn="ctr"/>
                      <a:r>
                        <a:rPr sz="1275">
                          <a:solidFill>
                            <a:srgbClr val="20252B"/>
                          </a:solidFill>
                          <a:latin typeface="Aptos"/>
                          <a:ea typeface="Aptos"/>
                          <a:cs typeface="Aptos"/>
                        </a:rPr>
                        <a:t>£182m</a:t>
                      </a:r>
                    </a:p>
                  </a:txBody>
                  <a:tcPr marL="95250" marR="95250" marT="47625" marB="47625" anchor="ctr">
                    <a:solidFill>
                      <a:srgbClr val="F4F7FA"/>
                    </a:solidFill>
                  </a:tcPr>
                </a:tc>
                <a:tc>
                  <a:txBody>
                    <a:bodyPr/>
                    <a:lstStyle/>
                    <a:p>
                      <a:pPr algn="ctr"/>
                      <a:r>
                        <a:rPr sz="1275">
                          <a:solidFill>
                            <a:srgbClr val="20252B"/>
                          </a:solidFill>
                          <a:latin typeface="Aptos"/>
                          <a:ea typeface="Aptos"/>
                          <a:cs typeface="Aptos"/>
                        </a:rPr>
                        <a:t>£36m</a:t>
                      </a:r>
                    </a:p>
                  </a:txBody>
                  <a:tcPr marL="95250" marR="95250" marT="47625" marB="47625" anchor="ctr">
                    <a:solidFill>
                      <a:srgbClr val="F4F7FA"/>
                    </a:solidFill>
                  </a:tcPr>
                </a:tc>
              </a:tr>
              <a:tr h="628650">
                <a:tc>
                  <a:txBody>
                    <a:bodyPr/>
                    <a:lstStyle/>
                    <a:p>
                      <a:pPr algn="l"/>
                      <a:r>
                        <a:rPr sz="1275">
                          <a:solidFill>
                            <a:srgbClr val="20252B"/>
                          </a:solidFill>
                          <a:latin typeface="Aptos"/>
                          <a:ea typeface="Aptos"/>
                          <a:cs typeface="Aptos"/>
                        </a:rPr>
                        <a:t>Underlying margin</a:t>
                      </a:r>
                    </a:p>
                  </a:txBody>
                  <a:tcPr marL="95250" marR="95250" marT="47625" marB="47625" anchor="ctr"/>
                </a:tc>
                <a:tc>
                  <a:txBody>
                    <a:bodyPr/>
                    <a:lstStyle/>
                    <a:p>
                      <a:pPr algn="ctr"/>
                      <a:r>
                        <a:rPr sz="1275">
                          <a:solidFill>
                            <a:srgbClr val="20252B"/>
                          </a:solidFill>
                          <a:latin typeface="Aptos"/>
                          <a:ea typeface="Aptos"/>
                          <a:cs typeface="Aptos"/>
                        </a:rPr>
                        <a:t>11.9%</a:t>
                      </a:r>
                    </a:p>
                  </a:txBody>
                  <a:tcPr marL="95250" marR="95250" marT="47625" marB="47625" anchor="ctr"/>
                </a:tc>
                <a:tc>
                  <a:txBody>
                    <a:bodyPr/>
                    <a:lstStyle/>
                    <a:p>
                      <a:pPr algn="ctr"/>
                      <a:r>
                        <a:rPr sz="1275">
                          <a:solidFill>
                            <a:srgbClr val="20252B"/>
                          </a:solidFill>
                          <a:latin typeface="Aptos"/>
                          <a:ea typeface="Aptos"/>
                          <a:cs typeface="Aptos"/>
                        </a:rPr>
                        <a:t>9.0%</a:t>
                      </a:r>
                    </a:p>
                  </a:txBody>
                  <a:tcPr marL="95250" marR="95250" marT="47625" marB="47625" anchor="ctr"/>
                </a:tc>
              </a:tr>
              <a:tr h="628650">
                <a:tc>
                  <a:txBody>
                    <a:bodyPr/>
                    <a:lstStyle/>
                    <a:p>
                      <a:pPr algn="l"/>
                      <a:r>
                        <a:rPr sz="1275">
                          <a:solidFill>
                            <a:srgbClr val="20252B"/>
                          </a:solidFill>
                          <a:latin typeface="Aptos"/>
                          <a:ea typeface="Aptos"/>
                          <a:cs typeface="Aptos"/>
                        </a:rPr>
                        <a:t>FY27 contracted revenue</a:t>
                      </a:r>
                    </a:p>
                  </a:txBody>
                  <a:tcPr marL="95250" marR="95250" marT="47625" marB="47625" anchor="ctr">
                    <a:solidFill>
                      <a:srgbClr val="F4F7FA"/>
                    </a:solidFill>
                  </a:tcPr>
                </a:tc>
                <a:tc>
                  <a:txBody>
                    <a:bodyPr/>
                    <a:lstStyle/>
                    <a:p>
                      <a:pPr algn="ctr"/>
                      <a:r>
                        <a:rPr sz="1275">
                          <a:solidFill>
                            <a:srgbClr val="20252B"/>
                          </a:solidFill>
                          <a:latin typeface="Aptos"/>
                          <a:ea typeface="Aptos"/>
                          <a:cs typeface="Aptos"/>
                        </a:rPr>
                        <a:t>Stronger visibility</a:t>
                      </a:r>
                    </a:p>
                  </a:txBody>
                  <a:tcPr marL="95250" marR="95250" marT="47625" marB="47625" anchor="ctr">
                    <a:solidFill>
                      <a:srgbClr val="F4F7FA"/>
                    </a:solidFill>
                  </a:tcPr>
                </a:tc>
                <a:tc>
                  <a:txBody>
                    <a:bodyPr/>
                    <a:lstStyle/>
                    <a:p>
                      <a:pPr algn="ctr"/>
                      <a:r>
                        <a:rPr sz="1275">
                          <a:solidFill>
                            <a:srgbClr val="20252B"/>
                          </a:solidFill>
                          <a:latin typeface="Aptos"/>
                          <a:ea typeface="Aptos"/>
                          <a:cs typeface="Aptos"/>
                        </a:rPr>
                        <a:t>59%</a:t>
                      </a:r>
                    </a:p>
                  </a:txBody>
                  <a:tcPr marL="95250" marR="95250" marT="47625" marB="47625" anchor="ctr">
                    <a:solidFill>
                      <a:srgbClr val="F4F7FA"/>
                    </a:solidFill>
                  </a:tcPr>
                </a:tc>
              </a:tr>
            </a:tbl>
          </a:graphicData>
        </a:graphic>
      </p:graphicFrame>
      <p:sp>
        <p:nvSpPr>
          <p:cNvPr id="5" name="">
            <a:extLst xmlns:a="http://schemas.openxmlformats.org/drawingml/2006/main">
              <a:ext uri="{FF2B5EF4-FFF2-40B4-BE49-F238E27FC236}">
                <a16:creationId xmlns:a16="http://schemas.microsoft.com/office/drawing/2014/main" id="{68FA48E5-910C-4624-9ABA-8DF75F317CB8}"/>
              </a:ext>
            </a:extLst>
          </p:cNvPr>
          <p:cNvSpPr>
            <a:spLocks xmlns:a="http://schemas.openxmlformats.org/drawingml/2006/main" noGrp="1"/>
          </p:cNvSpPr>
          <p:nvPr/>
        </p:nvSpPr>
        <p:spPr>
          <a:xfrm xmlns:a="http://schemas.openxmlformats.org/drawingml/2006/main">
            <a:off x="8096250" y="1600200"/>
            <a:ext cx="323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7365D"/>
                </a:solidFill>
                <a:latin typeface="Aptos"/>
                <a:ea typeface="Aptos"/>
                <a:cs typeface="Aptos"/>
              </a:defRPr>
            </a:pPr>
            <a:r>
              <a:rPr sz="1950" b="1">
                <a:solidFill>
                  <a:srgbClr val="17365D"/>
                </a:solidFill>
                <a:latin typeface="Aptos"/>
                <a:ea typeface="Aptos"/>
                <a:cs typeface="Aptos"/>
              </a:rPr>
              <a:t>Why the US matters</a:t>
            </a:r>
          </a:p>
        </p:txBody>
      </p:sp>
      <p:sp>
        <p:nvSpPr>
          <p:cNvPr id="6" name="">
            <a:extLst xmlns:a="http://schemas.openxmlformats.org/drawingml/2006/main">
              <a:ext uri="{FF2B5EF4-FFF2-40B4-BE49-F238E27FC236}">
                <a16:creationId xmlns:a16="http://schemas.microsoft.com/office/drawing/2014/main" id="{92334FFE-DB6D-4179-AFBE-A0193F0E26C1}"/>
              </a:ext>
            </a:extLst>
          </p:cNvPr>
          <p:cNvSpPr>
            <a:spLocks xmlns:a="http://schemas.openxmlformats.org/drawingml/2006/main" noGrp="1"/>
          </p:cNvSpPr>
          <p:nvPr/>
        </p:nvSpPr>
        <p:spPr>
          <a:xfrm xmlns:a="http://schemas.openxmlformats.org/drawingml/2006/main">
            <a:off x="8096250" y="2095500"/>
            <a:ext cx="3333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14300">
              <a:spcAft>
                <a:spcPts val="1000"/>
              </a:spcAft>
              <a:buChar char="•"/>
              <a:defRPr sz="1500">
                <a:solidFill>
                  <a:srgbClr val="20252B"/>
                </a:solidFill>
                <a:latin typeface="Aptos"/>
                <a:ea typeface="Aptos"/>
                <a:cs typeface="Aptos"/>
              </a:defRPr>
            </a:pPr>
            <a:r>
              <a:rPr sz="1500">
                <a:solidFill>
                  <a:srgbClr val="20252B"/>
                </a:solidFill>
                <a:latin typeface="Aptos"/>
                <a:ea typeface="Aptos"/>
                <a:cs typeface="Aptos"/>
              </a:rPr>
              <a:t>Revenue fell from £454m in FY25 to £393m in FY26 after portfolio exits.</a:t>
            </a:r>
          </a:p>
          <a:p xmlns:a="http://schemas.openxmlformats.org/drawingml/2006/main">
            <a:pPr marL="228600" indent="-114300">
              <a:spcAft>
                <a:spcPts val="1000"/>
              </a:spcAft>
              <a:buChar char="•"/>
              <a:defRPr sz="1500">
                <a:solidFill>
                  <a:srgbClr val="20252B"/>
                </a:solidFill>
                <a:latin typeface="Aptos"/>
                <a:ea typeface="Aptos"/>
                <a:cs typeface="Aptos"/>
              </a:defRPr>
            </a:pPr>
            <a:r>
              <a:rPr sz="1500">
                <a:solidFill>
                  <a:srgbClr val="20252B"/>
                </a:solidFill>
                <a:latin typeface="Aptos"/>
                <a:ea typeface="Aptos"/>
                <a:cs typeface="Aptos"/>
              </a:rPr>
              <a:t>Margins recovered to 9.0%, but funded backlog and contracted coverage weakened.</a:t>
            </a:r>
          </a:p>
          <a:p xmlns:a="http://schemas.openxmlformats.org/drawingml/2006/main">
            <a:pPr marL="228600" indent="-114300">
              <a:spcAft>
                <a:spcPts val="1000"/>
              </a:spcAft>
              <a:buChar char="•"/>
              <a:defRPr sz="1500">
                <a:solidFill>
                  <a:srgbClr val="20252B"/>
                </a:solidFill>
                <a:latin typeface="Aptos"/>
                <a:ea typeface="Aptos"/>
                <a:cs typeface="Aptos"/>
              </a:defRPr>
            </a:pPr>
            <a:r>
              <a:rPr sz="1500">
                <a:solidFill>
                  <a:srgbClr val="20252B"/>
                </a:solidFill>
                <a:latin typeface="Aptos"/>
                <a:ea typeface="Aptos"/>
                <a:cs typeface="Aptos"/>
              </a:rPr>
              <a:t>Management continued reviewing strategic options at the research date.</a:t>
            </a:r>
          </a:p>
          <a:p xmlns:a="http://schemas.openxmlformats.org/drawingml/2006/main">
            <a:pPr marL="228600" indent="-114300">
              <a:spcAft>
                <a:spcPts val="1000"/>
              </a:spcAft>
              <a:buChar char="•"/>
              <a:defRPr sz="1500">
                <a:solidFill>
                  <a:srgbClr val="20252B"/>
                </a:solidFill>
                <a:latin typeface="Aptos"/>
                <a:ea typeface="Aptos"/>
                <a:cs typeface="Aptos"/>
              </a:defRPr>
            </a:pPr>
            <a:r>
              <a:rPr sz="1500">
                <a:solidFill>
                  <a:srgbClr val="20252B"/>
                </a:solidFill>
                <a:latin typeface="Aptos"/>
                <a:ea typeface="Aptos"/>
                <a:cs typeface="Aptos"/>
              </a:rPr>
              <a:t>The decision is retain and improve, restructure again, or sell the US operation.</a:t>
            </a:r>
          </a:p>
        </p:txBody>
      </p:sp>
      <p:sp>
        <p:nvSpPr>
          <p:cNvPr id="7" name="">
            <a:extLst xmlns:a="http://schemas.openxmlformats.org/drawingml/2006/main">
              <a:ext uri="{FF2B5EF4-FFF2-40B4-BE49-F238E27FC236}">
                <a16:creationId xmlns:a16="http://schemas.microsoft.com/office/drawing/2014/main" id="{10DCF392-7383-448E-8339-F7A4A51D7ECF}"/>
              </a:ext>
            </a:extLst>
          </p:cNvPr>
          <p:cNvSpPr>
            <a:spLocks xmlns:a="http://schemas.openxmlformats.org/drawingml/2006/main" noGrp="1"/>
          </p:cNvSpPr>
          <p:nvPr/>
        </p:nvSpPr>
        <p:spPr>
          <a:xfrm xmlns:a="http://schemas.openxmlformats.org/drawingml/2006/main">
            <a:off x="704850" y="504825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17365D"/>
                </a:solidFill>
                <a:latin typeface="Aptos"/>
                <a:ea typeface="Aptos"/>
                <a:cs typeface="Aptos"/>
              </a:defRPr>
            </a:pPr>
            <a:r>
              <a:rPr sz="1350" b="1">
                <a:solidFill>
                  <a:srgbClr val="17365D"/>
                </a:solidFill>
                <a:latin typeface="Aptos"/>
                <a:ea typeface="Aptos"/>
                <a:cs typeface="Aptos"/>
              </a:rPr>
              <a:t>Modelling boundary</a:t>
            </a:r>
          </a:p>
        </p:txBody>
      </p:sp>
      <p:sp>
        <p:nvSpPr>
          <p:cNvPr id="8" name="">
            <a:extLst xmlns:a="http://schemas.openxmlformats.org/drawingml/2006/main">
              <a:ext uri="{FF2B5EF4-FFF2-40B4-BE49-F238E27FC236}">
                <a16:creationId xmlns:a16="http://schemas.microsoft.com/office/drawing/2014/main" id="{26070D0E-E037-49C2-AB67-26A1FD78B08A}"/>
              </a:ext>
            </a:extLst>
          </p:cNvPr>
          <p:cNvSpPr>
            <a:spLocks xmlns:a="http://schemas.openxmlformats.org/drawingml/2006/main" noGrp="1"/>
          </p:cNvSpPr>
          <p:nvPr/>
        </p:nvSpPr>
        <p:spPr>
          <a:xfrm xmlns:a="http://schemas.openxmlformats.org/drawingml/2006/main">
            <a:off x="704850" y="5381625"/>
            <a:ext cx="10648950" cy="628650"/>
          </a:xfrm>
          <a:prstGeom xmlns:a="http://schemas.openxmlformats.org/drawingml/2006/main" prst="rect">
            <a:avLst/>
          </a:prstGeom>
          <a:solidFill xmlns:a="http://schemas.openxmlformats.org/drawingml/2006/main">
            <a:srgbClr val="EAF2F8"/>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a:solidFill>
                  <a:srgbClr val="20252B"/>
                </a:solidFill>
                <a:latin typeface="Aptos"/>
                <a:ea typeface="Aptos"/>
                <a:cs typeface="Aptos"/>
              </a:defRPr>
            </a:pPr>
            <a:r>
              <a:rPr sz="1425" b="0">
                <a:solidFill>
                  <a:srgbClr val="20252B"/>
                </a:solidFill>
                <a:latin typeface="Aptos"/>
                <a:ea typeface="Aptos"/>
                <a:cs typeface="Aptos"/>
              </a:rPr>
              <a:t>The sale case removes approximately £291m of US revenue but retains approximately £103m of Other Products. This avoids treating the whole segment as US revenue.</a:t>
            </a:r>
          </a:p>
        </p:txBody>
      </p:sp>
      <p:sp>
        <p:nvSpPr>
          <p:cNvPr id="9" name="">
            <a:extLst xmlns:a="http://schemas.openxmlformats.org/drawingml/2006/main">
              <a:ext uri="{FF2B5EF4-FFF2-40B4-BE49-F238E27FC236}">
                <a16:creationId xmlns:a16="http://schemas.microsoft.com/office/drawing/2014/main" id="{7E0A365C-7821-4E91-A7EE-A333F1FD6865}"/>
              </a:ext>
            </a:extLst>
          </p:cNvPr>
          <p:cNvSpPr>
            <a:spLocks xmlns:a="http://schemas.openxmlformats.org/drawingml/2006/main" noGrp="1"/>
          </p:cNvSpPr>
          <p:nvPr/>
        </p:nvSpPr>
        <p:spPr>
          <a:xfrm xmlns:a="http://schemas.openxmlformats.org/drawingml/2006/main">
            <a:off x="609600" y="651510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66717E"/>
                </a:solidFill>
                <a:latin typeface="Aptos"/>
                <a:ea typeface="Aptos"/>
                <a:cs typeface="Aptos"/>
              </a:defRPr>
            </a:pPr>
            <a:r>
              <a:rPr sz="900" b="0">
                <a:solidFill>
                  <a:srgbClr val="66717E"/>
                </a:solidFill>
                <a:latin typeface="Aptos"/>
                <a:ea typeface="Aptos"/>
                <a:cs typeface="Aptos"/>
              </a:rPr>
              <a:t>QinetiQ valuation and strategic review</a:t>
            </a:r>
          </a:p>
        </p:txBody>
      </p:sp>
      <p:sp>
        <p:nvSpPr>
          <p:cNvPr id="10" name="">
            <a:extLst xmlns:a="http://schemas.openxmlformats.org/drawingml/2006/main">
              <a:ext uri="{FF2B5EF4-FFF2-40B4-BE49-F238E27FC236}">
                <a16:creationId xmlns:a16="http://schemas.microsoft.com/office/drawing/2014/main" id="{099870EF-AA30-4F25-AED1-72819BAA436A}"/>
              </a:ext>
            </a:extLst>
          </p:cNvPr>
          <p:cNvSpPr>
            <a:spLocks xmlns:a="http://schemas.openxmlformats.org/drawingml/2006/main" noGrp="1"/>
          </p:cNvSpPr>
          <p:nvPr/>
        </p:nvSpPr>
        <p:spPr>
          <a:xfrm xmlns:a="http://schemas.openxmlformats.org/drawingml/2006/main">
            <a:off x="11029950" y="6515100"/>
            <a:ext cx="552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66717E"/>
                </a:solidFill>
                <a:latin typeface="Aptos"/>
                <a:ea typeface="Aptos"/>
                <a:cs typeface="Aptos"/>
              </a:defRPr>
            </a:pPr>
            <a:r>
              <a:rPr sz="900" b="0">
                <a:solidFill>
                  <a:srgbClr val="66717E"/>
                </a:solidFill>
                <a:latin typeface="Aptos"/>
                <a:ea typeface="Aptos"/>
                <a:cs typeface="Aptos"/>
              </a:rPr>
              <a:t>3</a:t>
            </a:r>
          </a:p>
        </p:txBody>
      </p:sp>
    </p:spTree>
    <p:extLst>
      <p:ext uri="{BB962C8B-B14F-4D97-AF65-F5344CB8AC3E}">
        <p14:creationId xmlns:p14="http://schemas.microsoft.com/office/powerpoint/2010/main" val="19963910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6339265-5637-45F6-8DDF-3AE2D26197A8}"/>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17365D"/>
                </a:solidFill>
                <a:latin typeface="Aptos"/>
                <a:ea typeface="Aptos"/>
                <a:cs typeface="Aptos"/>
              </a:defRPr>
            </a:pPr>
            <a:r>
              <a:rPr sz="2850" b="1">
                <a:solidFill>
                  <a:srgbClr val="17365D"/>
                </a:solidFill>
                <a:latin typeface="Aptos"/>
                <a:ea typeface="Aptos"/>
                <a:cs typeface="Aptos"/>
              </a:rPr>
              <a:t>Historical performance</a:t>
            </a:r>
          </a:p>
        </p:txBody>
      </p:sp>
      <p:sp>
        <p:nvSpPr>
          <p:cNvPr id="2" name="">
            <a:extLst xmlns:a="http://schemas.openxmlformats.org/drawingml/2006/main">
              <a:ext uri="{FF2B5EF4-FFF2-40B4-BE49-F238E27FC236}">
                <a16:creationId xmlns:a16="http://schemas.microsoft.com/office/drawing/2014/main" id="{C9566890-CE65-4C29-A925-C8CC33890E3E}"/>
              </a:ext>
            </a:extLst>
          </p:cNvPr>
          <p:cNvSpPr>
            <a:spLocks xmlns:a="http://schemas.openxmlformats.org/drawingml/2006/main" noGrp="1"/>
          </p:cNvSpPr>
          <p:nvPr/>
        </p:nvSpPr>
        <p:spPr>
          <a:xfrm xmlns:a="http://schemas.openxmlformats.org/drawingml/2006/main">
            <a:off x="628650" y="857250"/>
            <a:ext cx="1093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6717E"/>
                </a:solidFill>
                <a:latin typeface="Aptos"/>
                <a:ea typeface="Aptos"/>
                <a:cs typeface="Aptos"/>
              </a:defRPr>
            </a:pPr>
            <a:r>
              <a:rPr sz="1350" b="0">
                <a:solidFill>
                  <a:srgbClr val="66717E"/>
                </a:solidFill>
                <a:latin typeface="Aptos"/>
                <a:ea typeface="Aptos"/>
                <a:cs typeface="Aptos"/>
              </a:rPr>
              <a:t>Group revenue expanded, while Global Solutions revenue and margins became volatile</a:t>
            </a:r>
          </a:p>
        </p:txBody>
      </p:sp>
      <p:sp>
        <p:nvSpPr>
          <p:cNvPr id="3" name="">
            <a:extLst xmlns:a="http://schemas.openxmlformats.org/drawingml/2006/main">
              <a:ext uri="{FF2B5EF4-FFF2-40B4-BE49-F238E27FC236}">
                <a16:creationId xmlns:a16="http://schemas.microsoft.com/office/drawing/2014/main" id="{EBAC605B-D957-49D0-841D-49A41AD6838E}"/>
              </a:ext>
            </a:extLst>
          </p:cNvPr>
          <p:cNvSpPr>
            <a:spLocks xmlns:a="http://schemas.openxmlformats.org/drawingml/2006/main" noGrp="1"/>
          </p:cNvSpPr>
          <p:nvPr/>
        </p:nvSpPr>
        <p:spPr>
          <a:xfrm xmlns:a="http://schemas.openxmlformats.org/drawingml/2006/main">
            <a:off x="609600" y="1200150"/>
            <a:ext cx="10972800" cy="28575"/>
          </a:xfrm>
          <a:prstGeom xmlns:a="http://schemas.openxmlformats.org/drawingml/2006/main" prst="rect">
            <a:avLst/>
          </a:prstGeom>
          <a:solidFill xmlns:a="http://schemas.openxmlformats.org/drawingml/2006/main">
            <a:srgbClr val="2F75B5"/>
          </a:solidFill>
          <a:ln xmlns:a="http://schemas.openxmlformats.org/drawingml/2006/main" w="0">
            <a:noFill/>
          </a:ln>
        </p:spPr>
      </p:sp>
      <p:graphicFrame>
        <p:nvGraphicFramePr>
          <p:cNvPr id="15" name="Chart"/>
          <p:cNvGraphicFramePr/>
          <p:nvPr/>
        </p:nvGraphicFramePr>
        <p:xfrm>
          <a:off xmlns:a="http://schemas.openxmlformats.org/drawingml/2006/main" x="666750" y="1666875"/>
          <a:ext xmlns:a="http://schemas.openxmlformats.org/drawingml/2006/main" cx="6858000" cy="3714750"/>
        </p:xfrm>
        <a:graphic xmlns:a="http://schemas.openxmlformats.org/drawingml/2006/main">
          <a:graphicData uri="http://schemas.openxmlformats.org/drawingml/2006/chart">
            <c:chart xmlns:r="http://schemas.openxmlformats.org/officeDocument/2006/relationships" xmlns:c="http://schemas.openxmlformats.org/drawingml/2006/chart" r:id="R7f3bd65238ec4ca7"/>
          </a:graphicData>
        </a:graphic>
      </p:graphicFrame>
      <p:sp>
        <p:nvSpPr>
          <p:cNvPr id="5" name="">
            <a:extLst xmlns:a="http://schemas.openxmlformats.org/drawingml/2006/main">
              <a:ext uri="{FF2B5EF4-FFF2-40B4-BE49-F238E27FC236}">
                <a16:creationId xmlns:a16="http://schemas.microsoft.com/office/drawing/2014/main" id="{EE7CC4E4-DDD2-4F64-8581-A2385A152089}"/>
              </a:ext>
            </a:extLst>
          </p:cNvPr>
          <p:cNvSpPr>
            <a:spLocks xmlns:a="http://schemas.openxmlformats.org/drawingml/2006/main" noGrp="1"/>
          </p:cNvSpPr>
          <p:nvPr/>
        </p:nvSpPr>
        <p:spPr>
          <a:xfrm xmlns:a="http://schemas.openxmlformats.org/drawingml/2006/main">
            <a:off x="762000" y="1381125"/>
            <a:ext cx="390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17365D"/>
                </a:solidFill>
                <a:latin typeface="Aptos"/>
                <a:ea typeface="Aptos"/>
                <a:cs typeface="Aptos"/>
              </a:defRPr>
            </a:pPr>
            <a:r>
              <a:rPr sz="1350" b="1">
                <a:solidFill>
                  <a:srgbClr val="17365D"/>
                </a:solidFill>
                <a:latin typeface="Aptos"/>
                <a:ea typeface="Aptos"/>
                <a:cs typeface="Aptos"/>
              </a:rPr>
              <a:t>Revenue by segment (£m)</a:t>
            </a:r>
          </a:p>
        </p:txBody>
      </p:sp>
      <p:graphicFrame>
        <p:nvGraphicFramePr>
          <p:cNvPr id="17" name="Chart"/>
          <p:cNvGraphicFramePr/>
          <p:nvPr/>
        </p:nvGraphicFramePr>
        <p:xfrm>
          <a:off xmlns:a="http://schemas.openxmlformats.org/drawingml/2006/main" x="7953375" y="1981200"/>
          <a:ext xmlns:a="http://schemas.openxmlformats.org/drawingml/2006/main" cx="3476625" cy="2619375"/>
        </p:xfrm>
        <a:graphic xmlns:a="http://schemas.openxmlformats.org/drawingml/2006/main">
          <a:graphicData uri="http://schemas.openxmlformats.org/drawingml/2006/chart">
            <c:chart xmlns:r="http://schemas.openxmlformats.org/officeDocument/2006/relationships" xmlns:c="http://schemas.openxmlformats.org/drawingml/2006/chart" r:id="R689d6781ad954dc1"/>
          </a:graphicData>
        </a:graphic>
      </p:graphicFrame>
      <p:sp>
        <p:nvSpPr>
          <p:cNvPr id="7" name="">
            <a:extLst xmlns:a="http://schemas.openxmlformats.org/drawingml/2006/main">
              <a:ext uri="{FF2B5EF4-FFF2-40B4-BE49-F238E27FC236}">
                <a16:creationId xmlns:a16="http://schemas.microsoft.com/office/drawing/2014/main" id="{9362423E-CDD8-4F55-89AF-8038BD22687B}"/>
              </a:ext>
            </a:extLst>
          </p:cNvPr>
          <p:cNvSpPr>
            <a:spLocks xmlns:a="http://schemas.openxmlformats.org/drawingml/2006/main" noGrp="1"/>
          </p:cNvSpPr>
          <p:nvPr/>
        </p:nvSpPr>
        <p:spPr>
          <a:xfrm xmlns:a="http://schemas.openxmlformats.org/drawingml/2006/main">
            <a:off x="8058150" y="16573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17365D"/>
                </a:solidFill>
                <a:latin typeface="Aptos"/>
                <a:ea typeface="Aptos"/>
                <a:cs typeface="Aptos"/>
              </a:defRPr>
            </a:pPr>
            <a:r>
              <a:rPr sz="1350" b="1">
                <a:solidFill>
                  <a:srgbClr val="17365D"/>
                </a:solidFill>
                <a:latin typeface="Aptos"/>
                <a:ea typeface="Aptos"/>
                <a:cs typeface="Aptos"/>
              </a:rPr>
              <a:t>Global Solutions margin</a:t>
            </a:r>
          </a:p>
        </p:txBody>
      </p:sp>
      <p:sp>
        <p:nvSpPr>
          <p:cNvPr id="8" name="">
            <a:extLst xmlns:a="http://schemas.openxmlformats.org/drawingml/2006/main">
              <a:ext uri="{FF2B5EF4-FFF2-40B4-BE49-F238E27FC236}">
                <a16:creationId xmlns:a16="http://schemas.microsoft.com/office/drawing/2014/main" id="{8799C42A-D268-43A8-87CC-E0A23D38B761}"/>
              </a:ext>
            </a:extLst>
          </p:cNvPr>
          <p:cNvSpPr>
            <a:spLocks xmlns:a="http://schemas.openxmlformats.org/drawingml/2006/main" noGrp="1"/>
          </p:cNvSpPr>
          <p:nvPr/>
        </p:nvSpPr>
        <p:spPr>
          <a:xfrm xmlns:a="http://schemas.openxmlformats.org/drawingml/2006/main">
            <a:off x="8001000" y="4857750"/>
            <a:ext cx="142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17365D"/>
                </a:solidFill>
                <a:latin typeface="Aptos"/>
                <a:ea typeface="Aptos"/>
                <a:cs typeface="Aptos"/>
              </a:defRPr>
            </a:pPr>
            <a:r>
              <a:rPr sz="1350" b="1">
                <a:solidFill>
                  <a:srgbClr val="17365D"/>
                </a:solidFill>
                <a:latin typeface="Aptos"/>
                <a:ea typeface="Aptos"/>
                <a:cs typeface="Aptos"/>
              </a:rPr>
              <a:t>Read-through</a:t>
            </a:r>
          </a:p>
        </p:txBody>
      </p:sp>
      <p:sp>
        <p:nvSpPr>
          <p:cNvPr id="9" name="">
            <a:extLst xmlns:a="http://schemas.openxmlformats.org/drawingml/2006/main">
              <a:ext uri="{FF2B5EF4-FFF2-40B4-BE49-F238E27FC236}">
                <a16:creationId xmlns:a16="http://schemas.microsoft.com/office/drawing/2014/main" id="{83DF6C7A-2F6F-43F5-A27D-E0A29B548893}"/>
              </a:ext>
            </a:extLst>
          </p:cNvPr>
          <p:cNvSpPr>
            <a:spLocks xmlns:a="http://schemas.openxmlformats.org/drawingml/2006/main" noGrp="1"/>
          </p:cNvSpPr>
          <p:nvPr/>
        </p:nvSpPr>
        <p:spPr>
          <a:xfrm xmlns:a="http://schemas.openxmlformats.org/drawingml/2006/main">
            <a:off x="8001000" y="5143500"/>
            <a:ext cx="333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20252B"/>
                </a:solidFill>
                <a:latin typeface="Aptos"/>
                <a:ea typeface="Aptos"/>
                <a:cs typeface="Aptos"/>
              </a:defRPr>
            </a:pPr>
            <a:r>
              <a:rPr sz="1350" b="0">
                <a:solidFill>
                  <a:srgbClr val="20252B"/>
                </a:solidFill>
                <a:latin typeface="Aptos"/>
                <a:ea typeface="Aptos"/>
                <a:cs typeface="Aptos"/>
              </a:rPr>
              <a:t>The segment has previously achieved roughly 10.5% margins, but performance has not been stable enough to assume an immediate return to that level.</a:t>
            </a:r>
          </a:p>
        </p:txBody>
      </p:sp>
      <p:sp>
        <p:nvSpPr>
          <p:cNvPr id="10" name="">
            <a:extLst xmlns:a="http://schemas.openxmlformats.org/drawingml/2006/main">
              <a:ext uri="{FF2B5EF4-FFF2-40B4-BE49-F238E27FC236}">
                <a16:creationId xmlns:a16="http://schemas.microsoft.com/office/drawing/2014/main" id="{81976B0D-43C5-4362-90E4-2C18D2B681F1}"/>
              </a:ext>
            </a:extLst>
          </p:cNvPr>
          <p:cNvSpPr>
            <a:spLocks xmlns:a="http://schemas.openxmlformats.org/drawingml/2006/main" noGrp="1"/>
          </p:cNvSpPr>
          <p:nvPr/>
        </p:nvSpPr>
        <p:spPr>
          <a:xfrm xmlns:a="http://schemas.openxmlformats.org/drawingml/2006/main">
            <a:off x="609600" y="651510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66717E"/>
                </a:solidFill>
                <a:latin typeface="Aptos"/>
                <a:ea typeface="Aptos"/>
                <a:cs typeface="Aptos"/>
              </a:defRPr>
            </a:pPr>
            <a:r>
              <a:rPr sz="900" b="0">
                <a:solidFill>
                  <a:srgbClr val="66717E"/>
                </a:solidFill>
                <a:latin typeface="Aptos"/>
                <a:ea typeface="Aptos"/>
                <a:cs typeface="Aptos"/>
              </a:rPr>
              <a:t>QinetiQ valuation and strategic review</a:t>
            </a:r>
          </a:p>
        </p:txBody>
      </p:sp>
      <p:sp>
        <p:nvSpPr>
          <p:cNvPr id="11" name="">
            <a:extLst xmlns:a="http://schemas.openxmlformats.org/drawingml/2006/main">
              <a:ext uri="{FF2B5EF4-FFF2-40B4-BE49-F238E27FC236}">
                <a16:creationId xmlns:a16="http://schemas.microsoft.com/office/drawing/2014/main" id="{1602C00D-60FB-4408-9CCA-12E52EA605DB}"/>
              </a:ext>
            </a:extLst>
          </p:cNvPr>
          <p:cNvSpPr>
            <a:spLocks xmlns:a="http://schemas.openxmlformats.org/drawingml/2006/main" noGrp="1"/>
          </p:cNvSpPr>
          <p:nvPr/>
        </p:nvSpPr>
        <p:spPr>
          <a:xfrm xmlns:a="http://schemas.openxmlformats.org/drawingml/2006/main">
            <a:off x="11029950" y="6515100"/>
            <a:ext cx="552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66717E"/>
                </a:solidFill>
                <a:latin typeface="Aptos"/>
                <a:ea typeface="Aptos"/>
                <a:cs typeface="Aptos"/>
              </a:defRPr>
            </a:pPr>
            <a:r>
              <a:rPr sz="900" b="0">
                <a:solidFill>
                  <a:srgbClr val="66717E"/>
                </a:solidFill>
                <a:latin typeface="Aptos"/>
                <a:ea typeface="Aptos"/>
                <a:cs typeface="Aptos"/>
              </a:rPr>
              <a:t>4</a:t>
            </a:r>
          </a:p>
        </p:txBody>
      </p:sp>
    </p:spTree>
    <p:extLst>
      <p:ext uri="{BB962C8B-B14F-4D97-AF65-F5344CB8AC3E}">
        <p14:creationId xmlns:p14="http://schemas.microsoft.com/office/powerpoint/2010/main" val="57903039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9DF104B-D402-495C-A983-091BBFB29BCD}"/>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17365D"/>
                </a:solidFill>
                <a:latin typeface="Aptos"/>
                <a:ea typeface="Aptos"/>
                <a:cs typeface="Aptos"/>
              </a:defRPr>
            </a:pPr>
            <a:r>
              <a:rPr sz="2850" b="1">
                <a:solidFill>
                  <a:srgbClr val="17365D"/>
                </a:solidFill>
                <a:latin typeface="Aptos"/>
                <a:ea typeface="Aptos"/>
                <a:cs typeface="Aptos"/>
              </a:rPr>
              <a:t>Base-case forecast</a:t>
            </a:r>
          </a:p>
        </p:txBody>
      </p:sp>
      <p:sp>
        <p:nvSpPr>
          <p:cNvPr id="2" name="">
            <a:extLst xmlns:a="http://schemas.openxmlformats.org/drawingml/2006/main">
              <a:ext uri="{FF2B5EF4-FFF2-40B4-BE49-F238E27FC236}">
                <a16:creationId xmlns:a16="http://schemas.microsoft.com/office/drawing/2014/main" id="{119F03D7-3462-44B2-B6B5-B02228577C51}"/>
              </a:ext>
            </a:extLst>
          </p:cNvPr>
          <p:cNvSpPr>
            <a:spLocks xmlns:a="http://schemas.openxmlformats.org/drawingml/2006/main" noGrp="1"/>
          </p:cNvSpPr>
          <p:nvPr/>
        </p:nvSpPr>
        <p:spPr>
          <a:xfrm xmlns:a="http://schemas.openxmlformats.org/drawingml/2006/main">
            <a:off x="628650" y="857250"/>
            <a:ext cx="1093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6717E"/>
                </a:solidFill>
                <a:latin typeface="Aptos"/>
                <a:ea typeface="Aptos"/>
                <a:cs typeface="Aptos"/>
              </a:defRPr>
            </a:pPr>
            <a:r>
              <a:rPr sz="1350" b="0">
                <a:solidFill>
                  <a:srgbClr val="66717E"/>
                </a:solidFill>
                <a:latin typeface="Aptos"/>
                <a:ea typeface="Aptos"/>
                <a:cs typeface="Aptos"/>
              </a:rPr>
              <a:t>Revenue reaches £2.33bn and UFCF reaches £210m by FY31</a:t>
            </a:r>
          </a:p>
        </p:txBody>
      </p:sp>
      <p:sp>
        <p:nvSpPr>
          <p:cNvPr id="3" name="">
            <a:extLst xmlns:a="http://schemas.openxmlformats.org/drawingml/2006/main">
              <a:ext uri="{FF2B5EF4-FFF2-40B4-BE49-F238E27FC236}">
                <a16:creationId xmlns:a16="http://schemas.microsoft.com/office/drawing/2014/main" id="{5CB51764-5490-4335-8A76-4160B4ACF8FE}"/>
              </a:ext>
            </a:extLst>
          </p:cNvPr>
          <p:cNvSpPr>
            <a:spLocks xmlns:a="http://schemas.openxmlformats.org/drawingml/2006/main" noGrp="1"/>
          </p:cNvSpPr>
          <p:nvPr/>
        </p:nvSpPr>
        <p:spPr>
          <a:xfrm xmlns:a="http://schemas.openxmlformats.org/drawingml/2006/main">
            <a:off x="609600" y="1200150"/>
            <a:ext cx="10972800" cy="28575"/>
          </a:xfrm>
          <a:prstGeom xmlns:a="http://schemas.openxmlformats.org/drawingml/2006/main" prst="rect">
            <a:avLst/>
          </a:prstGeom>
          <a:solidFill xmlns:a="http://schemas.openxmlformats.org/drawingml/2006/main">
            <a:srgbClr val="2F75B5"/>
          </a:solidFill>
          <a:ln xmlns:a="http://schemas.openxmlformats.org/drawingml/2006/main" w="0">
            <a:noFill/>
          </a:ln>
        </p:spPr>
      </p:sp>
      <p:graphicFrame>
        <p:nvGraphicFramePr>
          <p:cNvPr id="14" name="Chart"/>
          <p:cNvGraphicFramePr/>
          <p:nvPr/>
        </p:nvGraphicFramePr>
        <p:xfrm>
          <a:off xmlns:a="http://schemas.openxmlformats.org/drawingml/2006/main" x="666750" y="1762125"/>
          <a:ext xmlns:a="http://schemas.openxmlformats.org/drawingml/2006/main" cx="5334000" cy="3143250"/>
        </p:xfrm>
        <a:graphic xmlns:a="http://schemas.openxmlformats.org/drawingml/2006/main">
          <a:graphicData uri="http://schemas.openxmlformats.org/drawingml/2006/chart">
            <c:chart xmlns:r="http://schemas.openxmlformats.org/officeDocument/2006/relationships" xmlns:c="http://schemas.openxmlformats.org/drawingml/2006/chart" r:id="R0d50798fc93e4d9d"/>
          </a:graphicData>
        </a:graphic>
      </p:graphicFrame>
      <p:sp>
        <p:nvSpPr>
          <p:cNvPr id="5" name="">
            <a:extLst xmlns:a="http://schemas.openxmlformats.org/drawingml/2006/main">
              <a:ext uri="{FF2B5EF4-FFF2-40B4-BE49-F238E27FC236}">
                <a16:creationId xmlns:a16="http://schemas.microsoft.com/office/drawing/2014/main" id="{33381157-882C-42C0-BD9B-A00986193FC5}"/>
              </a:ext>
            </a:extLst>
          </p:cNvPr>
          <p:cNvSpPr>
            <a:spLocks xmlns:a="http://schemas.openxmlformats.org/drawingml/2006/main" noGrp="1"/>
          </p:cNvSpPr>
          <p:nvPr/>
        </p:nvSpPr>
        <p:spPr>
          <a:xfrm xmlns:a="http://schemas.openxmlformats.org/drawingml/2006/main">
            <a:off x="781050" y="14287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17365D"/>
                </a:solidFill>
                <a:latin typeface="Aptos"/>
                <a:ea typeface="Aptos"/>
                <a:cs typeface="Aptos"/>
              </a:defRPr>
            </a:pPr>
            <a:r>
              <a:rPr sz="1350" b="1">
                <a:solidFill>
                  <a:srgbClr val="17365D"/>
                </a:solidFill>
                <a:latin typeface="Aptos"/>
                <a:ea typeface="Aptos"/>
                <a:cs typeface="Aptos"/>
              </a:rPr>
              <a:t>Group revenue (£bn)</a:t>
            </a:r>
          </a:p>
        </p:txBody>
      </p:sp>
      <p:graphicFrame>
        <p:nvGraphicFramePr>
          <p:cNvPr id="16" name="Chart"/>
          <p:cNvGraphicFramePr/>
          <p:nvPr/>
        </p:nvGraphicFramePr>
        <p:xfrm>
          <a:off xmlns:a="http://schemas.openxmlformats.org/drawingml/2006/main" x="6553200" y="1762125"/>
          <a:ext xmlns:a="http://schemas.openxmlformats.org/drawingml/2006/main" cx="4762500" cy="3143250"/>
        </p:xfrm>
        <a:graphic xmlns:a="http://schemas.openxmlformats.org/drawingml/2006/main">
          <a:graphicData uri="http://schemas.openxmlformats.org/drawingml/2006/chart">
            <c:chart xmlns:r="http://schemas.openxmlformats.org/officeDocument/2006/relationships" xmlns:c="http://schemas.openxmlformats.org/drawingml/2006/chart" r:id="Red369b5b83324651"/>
          </a:graphicData>
        </a:graphic>
      </p:graphicFrame>
      <p:sp>
        <p:nvSpPr>
          <p:cNvPr id="7" name="">
            <a:extLst xmlns:a="http://schemas.openxmlformats.org/drawingml/2006/main">
              <a:ext uri="{FF2B5EF4-FFF2-40B4-BE49-F238E27FC236}">
                <a16:creationId xmlns:a16="http://schemas.microsoft.com/office/drawing/2014/main" id="{D7E36420-85B9-4173-8C39-262CC4EA9AFD}"/>
              </a:ext>
            </a:extLst>
          </p:cNvPr>
          <p:cNvSpPr>
            <a:spLocks xmlns:a="http://schemas.openxmlformats.org/drawingml/2006/main" noGrp="1"/>
          </p:cNvSpPr>
          <p:nvPr/>
        </p:nvSpPr>
        <p:spPr>
          <a:xfrm xmlns:a="http://schemas.openxmlformats.org/drawingml/2006/main">
            <a:off x="6667500" y="1428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17365D"/>
                </a:solidFill>
                <a:latin typeface="Aptos"/>
                <a:ea typeface="Aptos"/>
                <a:cs typeface="Aptos"/>
              </a:defRPr>
            </a:pPr>
            <a:r>
              <a:rPr sz="1350" b="1">
                <a:solidFill>
                  <a:srgbClr val="17365D"/>
                </a:solidFill>
                <a:latin typeface="Aptos"/>
                <a:ea typeface="Aptos"/>
                <a:cs typeface="Aptos"/>
              </a:rPr>
              <a:t>Unlevered free cash flow (£m)</a:t>
            </a:r>
          </a:p>
        </p:txBody>
      </p:sp>
      <p:graphicFrame>
        <p:nvGraphicFramePr>
          <p:cNvPr id="18" name=""/>
          <p:cNvGraphicFramePr/>
          <p:nvPr/>
        </p:nvGraphicFramePr>
        <p:xfrm>
          <a:off xmlns:a="http://schemas.openxmlformats.org/drawingml/2006/main" x="704850" y="5219700"/>
          <a:ext xmlns:a="http://schemas.openxmlformats.org/drawingml/2006/main" cx="10610850" cy="876300"/>
        </p:xfrm>
        <a:graphic xmlns:a="http://schemas.openxmlformats.org/drawingml/2006/main">
          <a:graphicData uri="http://schemas.openxmlformats.org/drawingml/2006/table">
            <a:tbl>
              <a:tblPr/>
              <a:tblGrid>
                <a:gridCol w="2114550"/>
                <a:gridCol w="2124075"/>
                <a:gridCol w="2124075"/>
                <a:gridCol w="2124075"/>
                <a:gridCol w="2124075"/>
              </a:tblGrid>
              <a:tr h="438150">
                <a:tc>
                  <a:txBody>
                    <a:bodyPr/>
                    <a:lstStyle/>
                    <a:p>
                      <a:pPr algn="ctr"/>
                      <a:r>
                        <a:rPr sz="1125" b="1">
                          <a:solidFill>
                            <a:srgbClr val="FFFFFF"/>
                          </a:solidFill>
                          <a:latin typeface="Aptos"/>
                          <a:ea typeface="Aptos"/>
                          <a:cs typeface="Aptos"/>
                        </a:rPr>
                        <a:t>Cash tax rate</a:t>
                      </a:r>
                    </a:p>
                  </a:txBody>
                  <a:tcPr marL="95250" marR="95250" marT="57150" marB="57150" anchor="ctr">
                    <a:solidFill>
                      <a:srgbClr val="17365D"/>
                    </a:solidFill>
                  </a:tcPr>
                </a:tc>
                <a:tc>
                  <a:txBody>
                    <a:bodyPr/>
                    <a:lstStyle/>
                    <a:p>
                      <a:pPr algn="ctr"/>
                      <a:r>
                        <a:rPr sz="1125" b="1">
                          <a:solidFill>
                            <a:srgbClr val="FFFFFF"/>
                          </a:solidFill>
                          <a:latin typeface="Aptos"/>
                          <a:ea typeface="Aptos"/>
                          <a:cs typeface="Aptos"/>
                        </a:rPr>
                        <a:t>D&amp;A / revenue</a:t>
                      </a:r>
                    </a:p>
                  </a:txBody>
                  <a:tcPr marL="95250" marR="95250" marT="57150" marB="57150" anchor="ctr">
                    <a:solidFill>
                      <a:srgbClr val="17365D"/>
                    </a:solidFill>
                  </a:tcPr>
                </a:tc>
                <a:tc>
                  <a:txBody>
                    <a:bodyPr/>
                    <a:lstStyle/>
                    <a:p>
                      <a:pPr algn="ctr"/>
                      <a:r>
                        <a:rPr sz="1125" b="1">
                          <a:solidFill>
                            <a:srgbClr val="FFFFFF"/>
                          </a:solidFill>
                          <a:latin typeface="Aptos"/>
                          <a:ea typeface="Aptos"/>
                          <a:cs typeface="Aptos"/>
                        </a:rPr>
                        <a:t>CapEx / revenue</a:t>
                      </a:r>
                    </a:p>
                  </a:txBody>
                  <a:tcPr marL="95250" marR="95250" marT="57150" marB="57150" anchor="ctr">
                    <a:solidFill>
                      <a:srgbClr val="17365D"/>
                    </a:solidFill>
                  </a:tcPr>
                </a:tc>
                <a:tc>
                  <a:txBody>
                    <a:bodyPr/>
                    <a:lstStyle/>
                    <a:p>
                      <a:pPr algn="ctr"/>
                      <a:r>
                        <a:rPr sz="1125" b="1">
                          <a:solidFill>
                            <a:srgbClr val="FFFFFF"/>
                          </a:solidFill>
                          <a:latin typeface="Aptos"/>
                          <a:ea typeface="Aptos"/>
                          <a:cs typeface="Aptos"/>
                        </a:rPr>
                        <a:t>NWC / Δ revenue</a:t>
                      </a:r>
                    </a:p>
                  </a:txBody>
                  <a:tcPr marL="95250" marR="95250" marT="57150" marB="57150" anchor="ctr">
                    <a:solidFill>
                      <a:srgbClr val="17365D"/>
                    </a:solidFill>
                  </a:tcPr>
                </a:tc>
                <a:tc>
                  <a:txBody>
                    <a:bodyPr/>
                    <a:lstStyle/>
                    <a:p>
                      <a:pPr algn="ctr"/>
                      <a:r>
                        <a:rPr sz="1125" b="1">
                          <a:solidFill>
                            <a:srgbClr val="FFFFFF"/>
                          </a:solidFill>
                          <a:latin typeface="Aptos"/>
                          <a:ea typeface="Aptos"/>
                          <a:cs typeface="Aptos"/>
                        </a:rPr>
                        <a:t>WACC / growth</a:t>
                      </a:r>
                    </a:p>
                  </a:txBody>
                  <a:tcPr marL="95250" marR="95250" marT="57150" marB="57150" anchor="ctr">
                    <a:solidFill>
                      <a:srgbClr val="17365D"/>
                    </a:solidFill>
                  </a:tcPr>
                </a:tc>
              </a:tr>
              <a:tr h="438150">
                <a:tc>
                  <a:txBody>
                    <a:bodyPr/>
                    <a:lstStyle/>
                    <a:p>
                      <a:pPr algn="l"/>
                      <a:r>
                        <a:rPr sz="1275">
                          <a:solidFill>
                            <a:srgbClr val="20252B"/>
                          </a:solidFill>
                          <a:latin typeface="Aptos"/>
                          <a:ea typeface="Aptos"/>
                          <a:cs typeface="Aptos"/>
                        </a:rPr>
                        <a:t>26.5%</a:t>
                      </a:r>
                    </a:p>
                  </a:txBody>
                  <a:tcPr marL="95250" marR="95250" marT="47625" marB="47625" anchor="ctr"/>
                </a:tc>
                <a:tc>
                  <a:txBody>
                    <a:bodyPr/>
                    <a:lstStyle/>
                    <a:p>
                      <a:pPr algn="ctr"/>
                      <a:r>
                        <a:rPr sz="1275">
                          <a:solidFill>
                            <a:srgbClr val="20252B"/>
                          </a:solidFill>
                          <a:latin typeface="Aptos"/>
                          <a:ea typeface="Aptos"/>
                          <a:cs typeface="Aptos"/>
                        </a:rPr>
                        <a:t>5.0%</a:t>
                      </a:r>
                    </a:p>
                  </a:txBody>
                  <a:tcPr marL="95250" marR="95250" marT="47625" marB="47625" anchor="ctr"/>
                </a:tc>
                <a:tc>
                  <a:txBody>
                    <a:bodyPr/>
                    <a:lstStyle/>
                    <a:p>
                      <a:pPr algn="ctr"/>
                      <a:r>
                        <a:rPr sz="1275">
                          <a:solidFill>
                            <a:srgbClr val="20252B"/>
                          </a:solidFill>
                          <a:latin typeface="Aptos"/>
                          <a:ea typeface="Aptos"/>
                          <a:cs typeface="Aptos"/>
                        </a:rPr>
                        <a:t>4.5%</a:t>
                      </a:r>
                    </a:p>
                  </a:txBody>
                  <a:tcPr marL="95250" marR="95250" marT="47625" marB="47625" anchor="ctr"/>
                </a:tc>
                <a:tc>
                  <a:txBody>
                    <a:bodyPr/>
                    <a:lstStyle/>
                    <a:p>
                      <a:pPr algn="ctr"/>
                      <a:r>
                        <a:rPr sz="1275">
                          <a:solidFill>
                            <a:srgbClr val="20252B"/>
                          </a:solidFill>
                          <a:latin typeface="Aptos"/>
                          <a:ea typeface="Aptos"/>
                          <a:cs typeface="Aptos"/>
                        </a:rPr>
                        <a:t>1.0%</a:t>
                      </a:r>
                    </a:p>
                  </a:txBody>
                  <a:tcPr marL="95250" marR="95250" marT="47625" marB="47625" anchor="ctr"/>
                </a:tc>
                <a:tc>
                  <a:txBody>
                    <a:bodyPr/>
                    <a:lstStyle/>
                    <a:p>
                      <a:pPr algn="ctr"/>
                      <a:r>
                        <a:rPr sz="1275">
                          <a:solidFill>
                            <a:srgbClr val="20252B"/>
                          </a:solidFill>
                          <a:latin typeface="Aptos"/>
                          <a:ea typeface="Aptos"/>
                          <a:cs typeface="Aptos"/>
                        </a:rPr>
                        <a:t>8.6% / 2.0%</a:t>
                      </a:r>
                    </a:p>
                  </a:txBody>
                  <a:tcPr marL="95250" marR="95250" marT="47625" marB="47625" anchor="ctr"/>
                </a:tc>
              </a:tr>
            </a:tbl>
          </a:graphicData>
        </a:graphic>
      </p:graphicFrame>
      <p:sp>
        <p:nvSpPr>
          <p:cNvPr id="9" name="">
            <a:extLst xmlns:a="http://schemas.openxmlformats.org/drawingml/2006/main">
              <a:ext uri="{FF2B5EF4-FFF2-40B4-BE49-F238E27FC236}">
                <a16:creationId xmlns:a16="http://schemas.microsoft.com/office/drawing/2014/main" id="{6214A8D2-407E-418F-9391-6508C842894A}"/>
              </a:ext>
            </a:extLst>
          </p:cNvPr>
          <p:cNvSpPr>
            <a:spLocks xmlns:a="http://schemas.openxmlformats.org/drawingml/2006/main" noGrp="1"/>
          </p:cNvSpPr>
          <p:nvPr/>
        </p:nvSpPr>
        <p:spPr>
          <a:xfrm xmlns:a="http://schemas.openxmlformats.org/drawingml/2006/main">
            <a:off x="609600" y="651510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66717E"/>
                </a:solidFill>
                <a:latin typeface="Aptos"/>
                <a:ea typeface="Aptos"/>
                <a:cs typeface="Aptos"/>
              </a:defRPr>
            </a:pPr>
            <a:r>
              <a:rPr sz="900" b="0">
                <a:solidFill>
                  <a:srgbClr val="66717E"/>
                </a:solidFill>
                <a:latin typeface="Aptos"/>
                <a:ea typeface="Aptos"/>
                <a:cs typeface="Aptos"/>
              </a:rPr>
              <a:t>QinetiQ valuation and strategic review</a:t>
            </a:r>
          </a:p>
        </p:txBody>
      </p:sp>
      <p:sp>
        <p:nvSpPr>
          <p:cNvPr id="10" name="">
            <a:extLst xmlns:a="http://schemas.openxmlformats.org/drawingml/2006/main">
              <a:ext uri="{FF2B5EF4-FFF2-40B4-BE49-F238E27FC236}">
                <a16:creationId xmlns:a16="http://schemas.microsoft.com/office/drawing/2014/main" id="{AFEBDC9E-4272-4A32-B195-3BACFA510197}"/>
              </a:ext>
            </a:extLst>
          </p:cNvPr>
          <p:cNvSpPr>
            <a:spLocks xmlns:a="http://schemas.openxmlformats.org/drawingml/2006/main" noGrp="1"/>
          </p:cNvSpPr>
          <p:nvPr/>
        </p:nvSpPr>
        <p:spPr>
          <a:xfrm xmlns:a="http://schemas.openxmlformats.org/drawingml/2006/main">
            <a:off x="11029950" y="6515100"/>
            <a:ext cx="552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66717E"/>
                </a:solidFill>
                <a:latin typeface="Aptos"/>
                <a:ea typeface="Aptos"/>
                <a:cs typeface="Aptos"/>
              </a:defRPr>
            </a:pPr>
            <a:r>
              <a:rPr sz="900" b="0">
                <a:solidFill>
                  <a:srgbClr val="66717E"/>
                </a:solidFill>
                <a:latin typeface="Aptos"/>
                <a:ea typeface="Aptos"/>
                <a:cs typeface="Aptos"/>
              </a:rPr>
              <a:t>5</a:t>
            </a:r>
          </a:p>
        </p:txBody>
      </p:sp>
    </p:spTree>
    <p:extLst>
      <p:ext uri="{BB962C8B-B14F-4D97-AF65-F5344CB8AC3E}">
        <p14:creationId xmlns:p14="http://schemas.microsoft.com/office/powerpoint/2010/main" val="140880103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2C28A05-AB86-4A03-AAF2-7CF1F86B7906}"/>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17365D"/>
                </a:solidFill>
                <a:latin typeface="Aptos"/>
                <a:ea typeface="Aptos"/>
                <a:cs typeface="Aptos"/>
              </a:defRPr>
            </a:pPr>
            <a:r>
              <a:rPr sz="2850" b="1">
                <a:solidFill>
                  <a:srgbClr val="17365D"/>
                </a:solidFill>
                <a:latin typeface="Aptos"/>
                <a:ea typeface="Aptos"/>
                <a:cs typeface="Aptos"/>
              </a:rPr>
              <a:t>DCF valuation</a:t>
            </a:r>
          </a:p>
        </p:txBody>
      </p:sp>
      <p:sp>
        <p:nvSpPr>
          <p:cNvPr id="2" name="">
            <a:extLst xmlns:a="http://schemas.openxmlformats.org/drawingml/2006/main">
              <a:ext uri="{FF2B5EF4-FFF2-40B4-BE49-F238E27FC236}">
                <a16:creationId xmlns:a16="http://schemas.microsoft.com/office/drawing/2014/main" id="{721E4D0F-6349-4E9A-945D-8BA3F8512B6C}"/>
              </a:ext>
            </a:extLst>
          </p:cNvPr>
          <p:cNvSpPr>
            <a:spLocks xmlns:a="http://schemas.openxmlformats.org/drawingml/2006/main" noGrp="1"/>
          </p:cNvSpPr>
          <p:nvPr/>
        </p:nvSpPr>
        <p:spPr>
          <a:xfrm xmlns:a="http://schemas.openxmlformats.org/drawingml/2006/main">
            <a:off x="628650" y="857250"/>
            <a:ext cx="1093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6717E"/>
                </a:solidFill>
                <a:latin typeface="Aptos"/>
                <a:ea typeface="Aptos"/>
                <a:cs typeface="Aptos"/>
              </a:defRPr>
            </a:pPr>
            <a:r>
              <a:rPr sz="1350" b="0">
                <a:solidFill>
                  <a:srgbClr val="66717E"/>
                </a:solidFill>
                <a:latin typeface="Aptos"/>
                <a:ea typeface="Aptos"/>
                <a:cs typeface="Aptos"/>
              </a:rPr>
              <a:t>An 8.6% WACC and 2.0% perpetual growth rate imply £5.51 per share</a:t>
            </a:r>
          </a:p>
        </p:txBody>
      </p:sp>
      <p:sp>
        <p:nvSpPr>
          <p:cNvPr id="3" name="">
            <a:extLst xmlns:a="http://schemas.openxmlformats.org/drawingml/2006/main">
              <a:ext uri="{FF2B5EF4-FFF2-40B4-BE49-F238E27FC236}">
                <a16:creationId xmlns:a16="http://schemas.microsoft.com/office/drawing/2014/main" id="{5E64DB51-60CD-434A-B309-D7458A43F2EF}"/>
              </a:ext>
            </a:extLst>
          </p:cNvPr>
          <p:cNvSpPr>
            <a:spLocks xmlns:a="http://schemas.openxmlformats.org/drawingml/2006/main" noGrp="1"/>
          </p:cNvSpPr>
          <p:nvPr/>
        </p:nvSpPr>
        <p:spPr>
          <a:xfrm xmlns:a="http://schemas.openxmlformats.org/drawingml/2006/main">
            <a:off x="609600" y="1200150"/>
            <a:ext cx="10972800" cy="28575"/>
          </a:xfrm>
          <a:prstGeom xmlns:a="http://schemas.openxmlformats.org/drawingml/2006/main" prst="rect">
            <a:avLst/>
          </a:prstGeom>
          <a:solidFill xmlns:a="http://schemas.openxmlformats.org/drawingml/2006/main">
            <a:srgbClr val="2F75B5"/>
          </a:solidFill>
          <a:ln xmlns:a="http://schemas.openxmlformats.org/drawingml/2006/main" w="0">
            <a:noFill/>
          </a:ln>
        </p:spPr>
      </p:sp>
      <p:graphicFrame>
        <p:nvGraphicFramePr>
          <p:cNvPr id="14" name=""/>
          <p:cNvGraphicFramePr/>
          <p:nvPr/>
        </p:nvGraphicFramePr>
        <p:xfrm>
          <a:off xmlns:a="http://schemas.openxmlformats.org/drawingml/2006/main" x="685800" y="1571625"/>
          <a:ext xmlns:a="http://schemas.openxmlformats.org/drawingml/2006/main" cx="4476750" cy="3762375"/>
        </p:xfrm>
        <a:graphic xmlns:a="http://schemas.openxmlformats.org/drawingml/2006/main">
          <a:graphicData uri="http://schemas.openxmlformats.org/drawingml/2006/table">
            <a:tbl>
              <a:tblPr/>
              <a:tblGrid>
                <a:gridCol w="2714625"/>
                <a:gridCol w="1762125"/>
              </a:tblGrid>
              <a:tr h="537482">
                <a:tc>
                  <a:txBody>
                    <a:bodyPr/>
                    <a:lstStyle/>
                    <a:p>
                      <a:pPr algn="ctr"/>
                      <a:r>
                        <a:rPr sz="1275" b="1">
                          <a:solidFill>
                            <a:srgbClr val="FFFFFF"/>
                          </a:solidFill>
                          <a:latin typeface="Aptos"/>
                          <a:ea typeface="Aptos"/>
                          <a:cs typeface="Aptos"/>
                        </a:rPr>
                        <a:t>Enterprise-to-equity bridge</a:t>
                      </a:r>
                    </a:p>
                  </a:txBody>
                  <a:tcPr marL="95250" marR="95250" marT="57150" marB="57150" anchor="ctr">
                    <a:solidFill>
                      <a:srgbClr val="17365D"/>
                    </a:solidFill>
                  </a:tcPr>
                </a:tc>
                <a:tc>
                  <a:txBody>
                    <a:bodyPr/>
                    <a:lstStyle/>
                    <a:p>
                      <a:pPr algn="ctr"/>
                      <a:r>
                        <a:rPr sz="1275" b="1">
                          <a:solidFill>
                            <a:srgbClr val="FFFFFF"/>
                          </a:solidFill>
                          <a:latin typeface="Aptos"/>
                          <a:ea typeface="Aptos"/>
                          <a:cs typeface="Aptos"/>
                        </a:rPr>
                        <a:t>£m</a:t>
                      </a:r>
                    </a:p>
                  </a:txBody>
                  <a:tcPr marL="95250" marR="95250" marT="57150" marB="57150" anchor="ctr">
                    <a:solidFill>
                      <a:srgbClr val="17365D"/>
                    </a:solidFill>
                  </a:tcPr>
                </a:tc>
              </a:tr>
              <a:tr h="537482">
                <a:tc>
                  <a:txBody>
                    <a:bodyPr/>
                    <a:lstStyle/>
                    <a:p>
                      <a:pPr algn="l"/>
                      <a:r>
                        <a:rPr sz="1275">
                          <a:solidFill>
                            <a:srgbClr val="20252B"/>
                          </a:solidFill>
                          <a:latin typeface="Aptos"/>
                          <a:ea typeface="Aptos"/>
                          <a:cs typeface="Aptos"/>
                        </a:rPr>
                        <a:t>PV of FY27-FY31 UFCF</a:t>
                      </a:r>
                    </a:p>
                  </a:txBody>
                  <a:tcPr marL="95250" marR="95250" marT="47625" marB="47625" anchor="ctr"/>
                </a:tc>
                <a:tc>
                  <a:txBody>
                    <a:bodyPr/>
                    <a:lstStyle/>
                    <a:p>
                      <a:pPr algn="ctr"/>
                      <a:r>
                        <a:rPr sz="1275">
                          <a:solidFill>
                            <a:srgbClr val="20252B"/>
                          </a:solidFill>
                          <a:latin typeface="Aptos"/>
                          <a:ea typeface="Aptos"/>
                          <a:cs typeface="Aptos"/>
                        </a:rPr>
                        <a:t>787.8</a:t>
                      </a:r>
                    </a:p>
                  </a:txBody>
                  <a:tcPr marL="95250" marR="95250" marT="47625" marB="47625" anchor="ctr"/>
                </a:tc>
              </a:tr>
              <a:tr h="537482">
                <a:tc>
                  <a:txBody>
                    <a:bodyPr/>
                    <a:lstStyle/>
                    <a:p>
                      <a:pPr algn="l"/>
                      <a:r>
                        <a:rPr sz="1275">
                          <a:solidFill>
                            <a:srgbClr val="20252B"/>
                          </a:solidFill>
                          <a:latin typeface="Aptos"/>
                          <a:ea typeface="Aptos"/>
                          <a:cs typeface="Aptos"/>
                        </a:rPr>
                        <a:t>PV of terminal value</a:t>
                      </a:r>
                    </a:p>
                  </a:txBody>
                  <a:tcPr marL="95250" marR="95250" marT="47625" marB="47625" anchor="ctr">
                    <a:solidFill>
                      <a:srgbClr val="F4F7FA"/>
                    </a:solidFill>
                  </a:tcPr>
                </a:tc>
                <a:tc>
                  <a:txBody>
                    <a:bodyPr/>
                    <a:lstStyle/>
                    <a:p>
                      <a:pPr algn="ctr"/>
                      <a:r>
                        <a:rPr sz="1275">
                          <a:solidFill>
                            <a:srgbClr val="20252B"/>
                          </a:solidFill>
                          <a:latin typeface="Aptos"/>
                          <a:ea typeface="Aptos"/>
                          <a:cs typeface="Aptos"/>
                        </a:rPr>
                        <a:t>2,247.5</a:t>
                      </a:r>
                    </a:p>
                  </a:txBody>
                  <a:tcPr marL="95250" marR="95250" marT="47625" marB="47625" anchor="ctr">
                    <a:solidFill>
                      <a:srgbClr val="F4F7FA"/>
                    </a:solidFill>
                  </a:tcPr>
                </a:tc>
              </a:tr>
              <a:tr h="537482">
                <a:tc>
                  <a:txBody>
                    <a:bodyPr/>
                    <a:lstStyle/>
                    <a:p>
                      <a:pPr algn="l"/>
                      <a:r>
                        <a:rPr sz="1275">
                          <a:solidFill>
                            <a:srgbClr val="20252B"/>
                          </a:solidFill>
                          <a:latin typeface="Aptos"/>
                          <a:ea typeface="Aptos"/>
                          <a:cs typeface="Aptos"/>
                        </a:rPr>
                        <a:t>Enterprise value</a:t>
                      </a:r>
                    </a:p>
                  </a:txBody>
                  <a:tcPr marL="95250" marR="95250" marT="47625" marB="47625" anchor="ctr"/>
                </a:tc>
                <a:tc>
                  <a:txBody>
                    <a:bodyPr/>
                    <a:lstStyle/>
                    <a:p>
                      <a:pPr algn="ctr"/>
                      <a:r>
                        <a:rPr sz="1275">
                          <a:solidFill>
                            <a:srgbClr val="20252B"/>
                          </a:solidFill>
                          <a:latin typeface="Aptos"/>
                          <a:ea typeface="Aptos"/>
                          <a:cs typeface="Aptos"/>
                        </a:rPr>
                        <a:t>3,035.3</a:t>
                      </a:r>
                    </a:p>
                  </a:txBody>
                  <a:tcPr marL="95250" marR="95250" marT="47625" marB="47625" anchor="ctr"/>
                </a:tc>
              </a:tr>
              <a:tr h="537482">
                <a:tc>
                  <a:txBody>
                    <a:bodyPr/>
                    <a:lstStyle/>
                    <a:p>
                      <a:pPr algn="l"/>
                      <a:r>
                        <a:rPr sz="1275">
                          <a:solidFill>
                            <a:srgbClr val="20252B"/>
                          </a:solidFill>
                          <a:latin typeface="Aptos"/>
                          <a:ea typeface="Aptos"/>
                          <a:cs typeface="Aptos"/>
                        </a:rPr>
                        <a:t>Less: net debt</a:t>
                      </a:r>
                    </a:p>
                  </a:txBody>
                  <a:tcPr marL="95250" marR="95250" marT="47625" marB="47625" anchor="ctr">
                    <a:solidFill>
                      <a:srgbClr val="F4F7FA"/>
                    </a:solidFill>
                  </a:tcPr>
                </a:tc>
                <a:tc>
                  <a:txBody>
                    <a:bodyPr/>
                    <a:lstStyle/>
                    <a:p>
                      <a:pPr algn="ctr"/>
                      <a:r>
                        <a:rPr sz="1275">
                          <a:solidFill>
                            <a:srgbClr val="20252B"/>
                          </a:solidFill>
                          <a:latin typeface="Aptos"/>
                          <a:ea typeface="Aptos"/>
                          <a:cs typeface="Aptos"/>
                        </a:rPr>
                        <a:t>(159.1)</a:t>
                      </a:r>
                    </a:p>
                  </a:txBody>
                  <a:tcPr marL="95250" marR="95250" marT="47625" marB="47625" anchor="ctr">
                    <a:solidFill>
                      <a:srgbClr val="F4F7FA"/>
                    </a:solidFill>
                  </a:tcPr>
                </a:tc>
              </a:tr>
              <a:tr h="537482">
                <a:tc>
                  <a:txBody>
                    <a:bodyPr/>
                    <a:lstStyle/>
                    <a:p>
                      <a:pPr algn="l"/>
                      <a:r>
                        <a:rPr sz="1275">
                          <a:solidFill>
                            <a:srgbClr val="20252B"/>
                          </a:solidFill>
                          <a:latin typeface="Aptos"/>
                          <a:ea typeface="Aptos"/>
                          <a:cs typeface="Aptos"/>
                        </a:rPr>
                        <a:t>Equity value</a:t>
                      </a:r>
                    </a:p>
                  </a:txBody>
                  <a:tcPr marL="95250" marR="95250" marT="47625" marB="47625" anchor="ctr"/>
                </a:tc>
                <a:tc>
                  <a:txBody>
                    <a:bodyPr/>
                    <a:lstStyle/>
                    <a:p>
                      <a:pPr algn="ctr"/>
                      <a:r>
                        <a:rPr sz="1275">
                          <a:solidFill>
                            <a:srgbClr val="20252B"/>
                          </a:solidFill>
                          <a:latin typeface="Aptos"/>
                          <a:ea typeface="Aptos"/>
                          <a:cs typeface="Aptos"/>
                        </a:rPr>
                        <a:t>2,876.2</a:t>
                      </a:r>
                    </a:p>
                  </a:txBody>
                  <a:tcPr marL="95250" marR="95250" marT="47625" marB="47625" anchor="ctr"/>
                </a:tc>
              </a:tr>
              <a:tr h="537482">
                <a:tc>
                  <a:txBody>
                    <a:bodyPr/>
                    <a:lstStyle/>
                    <a:p>
                      <a:pPr algn="l"/>
                      <a:r>
                        <a:rPr sz="1350" b="1">
                          <a:solidFill>
                            <a:srgbClr val="17365D"/>
                          </a:solidFill>
                          <a:latin typeface="Aptos"/>
                          <a:ea typeface="Aptos"/>
                          <a:cs typeface="Aptos"/>
                        </a:rPr>
                        <a:t>Implied value per share</a:t>
                      </a:r>
                    </a:p>
                  </a:txBody>
                  <a:tcPr marL="95250" marR="95250" marT="47625" marB="47625" anchor="ctr">
                    <a:solidFill>
                      <a:srgbClr val="EAF2F8"/>
                    </a:solidFill>
                  </a:tcPr>
                </a:tc>
                <a:tc>
                  <a:txBody>
                    <a:bodyPr/>
                    <a:lstStyle/>
                    <a:p>
                      <a:pPr algn="ctr"/>
                      <a:r>
                        <a:rPr sz="1500" b="1">
                          <a:solidFill>
                            <a:srgbClr val="17365D"/>
                          </a:solidFill>
                          <a:latin typeface="Aptos"/>
                          <a:ea typeface="Aptos"/>
                          <a:cs typeface="Aptos"/>
                        </a:rPr>
                        <a:t>£5.51</a:t>
                      </a:r>
                    </a:p>
                  </a:txBody>
                  <a:tcPr marL="95250" marR="95250" marT="47625" marB="47625" anchor="ctr">
                    <a:solidFill>
                      <a:srgbClr val="EAF2F8"/>
                    </a:solidFill>
                  </a:tcPr>
                </a:tc>
              </a:tr>
            </a:tbl>
          </a:graphicData>
        </a:graphic>
      </p:graphicFrame>
      <p:graphicFrame>
        <p:nvGraphicFramePr>
          <p:cNvPr id="15" name="Chart"/>
          <p:cNvGraphicFramePr/>
          <p:nvPr/>
        </p:nvGraphicFramePr>
        <p:xfrm>
          <a:off xmlns:a="http://schemas.openxmlformats.org/drawingml/2006/main" x="5810250" y="1857375"/>
          <a:ext xmlns:a="http://schemas.openxmlformats.org/drawingml/2006/main" cx="5429250" cy="1666875"/>
        </p:xfrm>
        <a:graphic xmlns:a="http://schemas.openxmlformats.org/drawingml/2006/main">
          <a:graphicData uri="http://schemas.openxmlformats.org/drawingml/2006/chart">
            <c:chart xmlns:r="http://schemas.openxmlformats.org/officeDocument/2006/relationships" xmlns:c="http://schemas.openxmlformats.org/drawingml/2006/chart" r:id="Raeb86f45fb544a2b"/>
          </a:graphicData>
        </a:graphic>
      </p:graphicFrame>
      <p:sp>
        <p:nvSpPr>
          <p:cNvPr id="6" name="">
            <a:extLst xmlns:a="http://schemas.openxmlformats.org/drawingml/2006/main">
              <a:ext uri="{FF2B5EF4-FFF2-40B4-BE49-F238E27FC236}">
                <a16:creationId xmlns:a16="http://schemas.microsoft.com/office/drawing/2014/main" id="{9E92DCFF-7340-4E4F-BEEE-342A39AB5D17}"/>
              </a:ext>
            </a:extLst>
          </p:cNvPr>
          <p:cNvSpPr>
            <a:spLocks xmlns:a="http://schemas.openxmlformats.org/drawingml/2006/main" noGrp="1"/>
          </p:cNvSpPr>
          <p:nvPr/>
        </p:nvSpPr>
        <p:spPr>
          <a:xfrm xmlns:a="http://schemas.openxmlformats.org/drawingml/2006/main">
            <a:off x="5886450" y="1524000"/>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17365D"/>
                </a:solidFill>
                <a:latin typeface="Aptos"/>
                <a:ea typeface="Aptos"/>
                <a:cs typeface="Aptos"/>
              </a:defRPr>
            </a:pPr>
            <a:r>
              <a:rPr sz="1350" b="1">
                <a:solidFill>
                  <a:srgbClr val="17365D"/>
                </a:solidFill>
                <a:latin typeface="Aptos"/>
                <a:ea typeface="Aptos"/>
                <a:cs typeface="Aptos"/>
              </a:rPr>
              <a:t>Enterprise value composition</a:t>
            </a:r>
          </a:p>
        </p:txBody>
      </p:sp>
      <p:sp>
        <p:nvSpPr>
          <p:cNvPr id="7" name="">
            <a:extLst xmlns:a="http://schemas.openxmlformats.org/drawingml/2006/main">
              <a:ext uri="{FF2B5EF4-FFF2-40B4-BE49-F238E27FC236}">
                <a16:creationId xmlns:a16="http://schemas.microsoft.com/office/drawing/2014/main" id="{C3C98EC8-59D9-4939-80F7-A19D09FC76AA}"/>
              </a:ext>
            </a:extLst>
          </p:cNvPr>
          <p:cNvSpPr>
            <a:spLocks xmlns:a="http://schemas.openxmlformats.org/drawingml/2006/main" noGrp="1"/>
          </p:cNvSpPr>
          <p:nvPr/>
        </p:nvSpPr>
        <p:spPr>
          <a:xfrm xmlns:a="http://schemas.openxmlformats.org/drawingml/2006/main">
            <a:off x="5905500" y="3981450"/>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7365D"/>
                </a:solidFill>
                <a:latin typeface="Aptos"/>
                <a:ea typeface="Aptos"/>
                <a:cs typeface="Aptos"/>
              </a:defRPr>
            </a:pPr>
            <a:r>
              <a:rPr sz="1800" b="1">
                <a:solidFill>
                  <a:srgbClr val="17365D"/>
                </a:solidFill>
                <a:latin typeface="Aptos"/>
                <a:ea typeface="Aptos"/>
                <a:cs typeface="Aptos"/>
              </a:rPr>
              <a:t>Why sensitivity matters</a:t>
            </a:r>
          </a:p>
        </p:txBody>
      </p:sp>
      <p:sp>
        <p:nvSpPr>
          <p:cNvPr id="8" name="">
            <a:extLst xmlns:a="http://schemas.openxmlformats.org/drawingml/2006/main">
              <a:ext uri="{FF2B5EF4-FFF2-40B4-BE49-F238E27FC236}">
                <a16:creationId xmlns:a16="http://schemas.microsoft.com/office/drawing/2014/main" id="{18EBF310-A393-467A-945B-4725E64AFEC3}"/>
              </a:ext>
            </a:extLst>
          </p:cNvPr>
          <p:cNvSpPr>
            <a:spLocks xmlns:a="http://schemas.openxmlformats.org/drawingml/2006/main" noGrp="1"/>
          </p:cNvSpPr>
          <p:nvPr/>
        </p:nvSpPr>
        <p:spPr>
          <a:xfrm xmlns:a="http://schemas.openxmlformats.org/drawingml/2006/main">
            <a:off x="5905500" y="4438650"/>
            <a:ext cx="52863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14300">
              <a:spcAft>
                <a:spcPts val="700"/>
              </a:spcAft>
              <a:buChar char="•"/>
              <a:defRPr sz="1425">
                <a:solidFill>
                  <a:srgbClr val="20252B"/>
                </a:solidFill>
                <a:latin typeface="Aptos"/>
                <a:ea typeface="Aptos"/>
                <a:cs typeface="Aptos"/>
              </a:defRPr>
            </a:pPr>
            <a:r>
              <a:rPr sz="1425">
                <a:solidFill>
                  <a:srgbClr val="20252B"/>
                </a:solidFill>
                <a:latin typeface="Aptos"/>
                <a:ea typeface="Aptos"/>
                <a:cs typeface="Aptos"/>
              </a:rPr>
              <a:t>Approximately 74% of enterprise value comes from terminal value.</a:t>
            </a:r>
          </a:p>
          <a:p xmlns:a="http://schemas.openxmlformats.org/drawingml/2006/main">
            <a:pPr marL="228600" indent="-114300">
              <a:spcAft>
                <a:spcPts val="700"/>
              </a:spcAft>
              <a:buChar char="•"/>
              <a:defRPr sz="1425">
                <a:solidFill>
                  <a:srgbClr val="20252B"/>
                </a:solidFill>
                <a:latin typeface="Aptos"/>
                <a:ea typeface="Aptos"/>
                <a:cs typeface="Aptos"/>
              </a:defRPr>
            </a:pPr>
            <a:r>
              <a:rPr sz="1425">
                <a:solidFill>
                  <a:srgbClr val="20252B"/>
                </a:solidFill>
                <a:latin typeface="Aptos"/>
                <a:ea typeface="Aptos"/>
                <a:cs typeface="Aptos"/>
              </a:rPr>
              <a:t>Mid-year discounting reflects cash generation throughout each year.</a:t>
            </a:r>
          </a:p>
          <a:p xmlns:a="http://schemas.openxmlformats.org/drawingml/2006/main">
            <a:pPr marL="228600" indent="-114300">
              <a:spcAft>
                <a:spcPts val="700"/>
              </a:spcAft>
              <a:buChar char="•"/>
              <a:defRPr sz="1425">
                <a:solidFill>
                  <a:srgbClr val="20252B"/>
                </a:solidFill>
                <a:latin typeface="Aptos"/>
                <a:ea typeface="Aptos"/>
                <a:cs typeface="Aptos"/>
              </a:defRPr>
            </a:pPr>
            <a:r>
              <a:rPr sz="1425">
                <a:solidFill>
                  <a:srgbClr val="20252B"/>
                </a:solidFill>
                <a:latin typeface="Aptos"/>
                <a:ea typeface="Aptos"/>
                <a:cs typeface="Aptos"/>
              </a:rPr>
              <a:t>The full WACC and growth matrix spans £4.31 to £7.75 per share.</a:t>
            </a:r>
          </a:p>
          <a:p xmlns:a="http://schemas.openxmlformats.org/drawingml/2006/main">
            <a:pPr marL="228600" indent="-114300">
              <a:spcAft>
                <a:spcPts val="700"/>
              </a:spcAft>
              <a:buChar char="•"/>
              <a:defRPr sz="1425">
                <a:solidFill>
                  <a:srgbClr val="20252B"/>
                </a:solidFill>
                <a:latin typeface="Aptos"/>
                <a:ea typeface="Aptos"/>
                <a:cs typeface="Aptos"/>
              </a:defRPr>
            </a:pPr>
            <a:r>
              <a:rPr sz="1425">
                <a:solidFill>
                  <a:srgbClr val="20252B"/>
                </a:solidFill>
                <a:latin typeface="Aptos"/>
                <a:ea typeface="Aptos"/>
                <a:cs typeface="Aptos"/>
              </a:rPr>
              <a:t>The nearby cells are more useful than the extreme corners.</a:t>
            </a:r>
          </a:p>
        </p:txBody>
      </p:sp>
      <p:sp>
        <p:nvSpPr>
          <p:cNvPr id="9" name="">
            <a:extLst xmlns:a="http://schemas.openxmlformats.org/drawingml/2006/main">
              <a:ext uri="{FF2B5EF4-FFF2-40B4-BE49-F238E27FC236}">
                <a16:creationId xmlns:a16="http://schemas.microsoft.com/office/drawing/2014/main" id="{C244E5DF-F902-4AB0-A6DD-972E5B3B1925}"/>
              </a:ext>
            </a:extLst>
          </p:cNvPr>
          <p:cNvSpPr>
            <a:spLocks xmlns:a="http://schemas.openxmlformats.org/drawingml/2006/main" noGrp="1"/>
          </p:cNvSpPr>
          <p:nvPr/>
        </p:nvSpPr>
        <p:spPr>
          <a:xfrm xmlns:a="http://schemas.openxmlformats.org/drawingml/2006/main">
            <a:off x="609600" y="651510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66717E"/>
                </a:solidFill>
                <a:latin typeface="Aptos"/>
                <a:ea typeface="Aptos"/>
                <a:cs typeface="Aptos"/>
              </a:defRPr>
            </a:pPr>
            <a:r>
              <a:rPr sz="900" b="0">
                <a:solidFill>
                  <a:srgbClr val="66717E"/>
                </a:solidFill>
                <a:latin typeface="Aptos"/>
                <a:ea typeface="Aptos"/>
                <a:cs typeface="Aptos"/>
              </a:rPr>
              <a:t>QinetiQ valuation and strategic review</a:t>
            </a:r>
          </a:p>
        </p:txBody>
      </p:sp>
      <p:sp>
        <p:nvSpPr>
          <p:cNvPr id="10" name="">
            <a:extLst xmlns:a="http://schemas.openxmlformats.org/drawingml/2006/main">
              <a:ext uri="{FF2B5EF4-FFF2-40B4-BE49-F238E27FC236}">
                <a16:creationId xmlns:a16="http://schemas.microsoft.com/office/drawing/2014/main" id="{89896DC9-121B-4718-B407-4B129A1F322A}"/>
              </a:ext>
            </a:extLst>
          </p:cNvPr>
          <p:cNvSpPr>
            <a:spLocks xmlns:a="http://schemas.openxmlformats.org/drawingml/2006/main" noGrp="1"/>
          </p:cNvSpPr>
          <p:nvPr/>
        </p:nvSpPr>
        <p:spPr>
          <a:xfrm xmlns:a="http://schemas.openxmlformats.org/drawingml/2006/main">
            <a:off x="11029950" y="6515100"/>
            <a:ext cx="552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66717E"/>
                </a:solidFill>
                <a:latin typeface="Aptos"/>
                <a:ea typeface="Aptos"/>
                <a:cs typeface="Aptos"/>
              </a:defRPr>
            </a:pPr>
            <a:r>
              <a:rPr sz="900" b="0">
                <a:solidFill>
                  <a:srgbClr val="66717E"/>
                </a:solidFill>
                <a:latin typeface="Aptos"/>
                <a:ea typeface="Aptos"/>
                <a:cs typeface="Aptos"/>
              </a:rPr>
              <a:t>6</a:t>
            </a:r>
          </a:p>
        </p:txBody>
      </p:sp>
    </p:spTree>
    <p:extLst>
      <p:ext uri="{BB962C8B-B14F-4D97-AF65-F5344CB8AC3E}">
        <p14:creationId xmlns:p14="http://schemas.microsoft.com/office/powerpoint/2010/main" val="106765814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B97FD33-64F1-4687-AA45-3E1F4D3F69D2}"/>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17365D"/>
                </a:solidFill>
                <a:latin typeface="Aptos"/>
                <a:ea typeface="Aptos"/>
                <a:cs typeface="Aptos"/>
              </a:defRPr>
            </a:pPr>
            <a:r>
              <a:rPr sz="2850" b="1">
                <a:solidFill>
                  <a:srgbClr val="17365D"/>
                </a:solidFill>
                <a:latin typeface="Aptos"/>
                <a:ea typeface="Aptos"/>
                <a:cs typeface="Aptos"/>
              </a:rPr>
              <a:t>Market valuation cross-checks</a:t>
            </a:r>
          </a:p>
        </p:txBody>
      </p:sp>
      <p:sp>
        <p:nvSpPr>
          <p:cNvPr id="2" name="">
            <a:extLst xmlns:a="http://schemas.openxmlformats.org/drawingml/2006/main">
              <a:ext uri="{FF2B5EF4-FFF2-40B4-BE49-F238E27FC236}">
                <a16:creationId xmlns:a16="http://schemas.microsoft.com/office/drawing/2014/main" id="{263D03BF-1E32-432B-A016-99E80E6BC70A}"/>
              </a:ext>
            </a:extLst>
          </p:cNvPr>
          <p:cNvSpPr>
            <a:spLocks xmlns:a="http://schemas.openxmlformats.org/drawingml/2006/main" noGrp="1"/>
          </p:cNvSpPr>
          <p:nvPr/>
        </p:nvSpPr>
        <p:spPr>
          <a:xfrm xmlns:a="http://schemas.openxmlformats.org/drawingml/2006/main">
            <a:off x="628650" y="857250"/>
            <a:ext cx="1093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6717E"/>
                </a:solidFill>
                <a:latin typeface="Aptos"/>
                <a:ea typeface="Aptos"/>
                <a:cs typeface="Aptos"/>
              </a:defRPr>
            </a:pPr>
            <a:r>
              <a:rPr sz="1350" b="0">
                <a:solidFill>
                  <a:srgbClr val="66717E"/>
                </a:solidFill>
                <a:latin typeface="Aptos"/>
                <a:ea typeface="Aptos"/>
                <a:cs typeface="Aptos"/>
              </a:rPr>
              <a:t>Operating profit multiples support the DCF more strongly than revenue multiples</a:t>
            </a:r>
          </a:p>
        </p:txBody>
      </p:sp>
      <p:sp>
        <p:nvSpPr>
          <p:cNvPr id="3" name="">
            <a:extLst xmlns:a="http://schemas.openxmlformats.org/drawingml/2006/main">
              <a:ext uri="{FF2B5EF4-FFF2-40B4-BE49-F238E27FC236}">
                <a16:creationId xmlns:a16="http://schemas.microsoft.com/office/drawing/2014/main" id="{3247793F-45F3-4792-9580-67A1368A06FA}"/>
              </a:ext>
            </a:extLst>
          </p:cNvPr>
          <p:cNvSpPr>
            <a:spLocks xmlns:a="http://schemas.openxmlformats.org/drawingml/2006/main" noGrp="1"/>
          </p:cNvSpPr>
          <p:nvPr/>
        </p:nvSpPr>
        <p:spPr>
          <a:xfrm xmlns:a="http://schemas.openxmlformats.org/drawingml/2006/main">
            <a:off x="609600" y="1200150"/>
            <a:ext cx="10972800" cy="28575"/>
          </a:xfrm>
          <a:prstGeom xmlns:a="http://schemas.openxmlformats.org/drawingml/2006/main" prst="rect">
            <a:avLst/>
          </a:prstGeom>
          <a:solidFill xmlns:a="http://schemas.openxmlformats.org/drawingml/2006/main">
            <a:srgbClr val="2F75B5"/>
          </a:solidFill>
          <a:ln xmlns:a="http://schemas.openxmlformats.org/drawingml/2006/main" w="0">
            <a:noFill/>
          </a:ln>
        </p:spPr>
      </p:sp>
      <p:graphicFrame>
        <p:nvGraphicFramePr>
          <p:cNvPr id="13" name="Chart"/>
          <p:cNvGraphicFramePr/>
          <p:nvPr/>
        </p:nvGraphicFramePr>
        <p:xfrm>
          <a:off xmlns:a="http://schemas.openxmlformats.org/drawingml/2006/main" x="666750" y="1619250"/>
          <a:ext xmlns:a="http://schemas.openxmlformats.org/drawingml/2006/main" cx="6858000" cy="4000500"/>
        </p:xfrm>
        <a:graphic xmlns:a="http://schemas.openxmlformats.org/drawingml/2006/main">
          <a:graphicData uri="http://schemas.openxmlformats.org/drawingml/2006/chart">
            <c:chart xmlns:r="http://schemas.openxmlformats.org/officeDocument/2006/relationships" xmlns:c="http://schemas.openxmlformats.org/drawingml/2006/chart" r:id="Ra0d5ebc1fbd44fd4"/>
          </a:graphicData>
        </a:graphic>
      </p:graphicFrame>
      <p:sp>
        <p:nvSpPr>
          <p:cNvPr id="5" name="">
            <a:extLst xmlns:a="http://schemas.openxmlformats.org/drawingml/2006/main">
              <a:ext uri="{FF2B5EF4-FFF2-40B4-BE49-F238E27FC236}">
                <a16:creationId xmlns:a16="http://schemas.microsoft.com/office/drawing/2014/main" id="{FC2A8BB9-282C-4633-9CA3-2742A18029CC}"/>
              </a:ext>
            </a:extLst>
          </p:cNvPr>
          <p:cNvSpPr>
            <a:spLocks xmlns:a="http://schemas.openxmlformats.org/drawingml/2006/main" noGrp="1"/>
          </p:cNvSpPr>
          <p:nvPr/>
        </p:nvSpPr>
        <p:spPr>
          <a:xfrm xmlns:a="http://schemas.openxmlformats.org/drawingml/2006/main">
            <a:off x="762000" y="571500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A8443A"/>
                </a:solidFill>
                <a:latin typeface="Aptos"/>
                <a:ea typeface="Aptos"/>
                <a:cs typeface="Aptos"/>
              </a:defRPr>
            </a:pPr>
            <a:r>
              <a:rPr sz="1350" b="1">
                <a:solidFill>
                  <a:srgbClr val="A8443A"/>
                </a:solidFill>
                <a:latin typeface="Aptos"/>
                <a:ea typeface="Aptos"/>
                <a:cs typeface="Aptos"/>
              </a:rPr>
              <a:t>Research-date share price: £4.66</a:t>
            </a:r>
          </a:p>
        </p:txBody>
      </p:sp>
      <p:sp>
        <p:nvSpPr>
          <p:cNvPr id="6" name="">
            <a:extLst xmlns:a="http://schemas.openxmlformats.org/drawingml/2006/main">
              <a:ext uri="{FF2B5EF4-FFF2-40B4-BE49-F238E27FC236}">
                <a16:creationId xmlns:a16="http://schemas.microsoft.com/office/drawing/2014/main" id="{C691B704-4D67-429F-9488-1EC90EB67392}"/>
              </a:ext>
            </a:extLst>
          </p:cNvPr>
          <p:cNvSpPr>
            <a:spLocks xmlns:a="http://schemas.openxmlformats.org/drawingml/2006/main" noGrp="1"/>
          </p:cNvSpPr>
          <p:nvPr/>
        </p:nvSpPr>
        <p:spPr>
          <a:xfrm xmlns:a="http://schemas.openxmlformats.org/drawingml/2006/main">
            <a:off x="7953375" y="166687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7365D"/>
                </a:solidFill>
                <a:latin typeface="Aptos"/>
                <a:ea typeface="Aptos"/>
                <a:cs typeface="Aptos"/>
              </a:defRPr>
            </a:pPr>
            <a:r>
              <a:rPr sz="1875" b="1">
                <a:solidFill>
                  <a:srgbClr val="17365D"/>
                </a:solidFill>
                <a:latin typeface="Aptos"/>
                <a:ea typeface="Aptos"/>
                <a:cs typeface="Aptos"/>
              </a:rPr>
              <a:t>How to interpret the methods</a:t>
            </a:r>
          </a:p>
        </p:txBody>
      </p:sp>
      <p:sp>
        <p:nvSpPr>
          <p:cNvPr id="7" name="">
            <a:extLst xmlns:a="http://schemas.openxmlformats.org/drawingml/2006/main">
              <a:ext uri="{FF2B5EF4-FFF2-40B4-BE49-F238E27FC236}">
                <a16:creationId xmlns:a16="http://schemas.microsoft.com/office/drawing/2014/main" id="{07CB369D-7553-4D2E-AB10-AE22205C7790}"/>
              </a:ext>
            </a:extLst>
          </p:cNvPr>
          <p:cNvSpPr>
            <a:spLocks xmlns:a="http://schemas.openxmlformats.org/drawingml/2006/main" noGrp="1"/>
          </p:cNvSpPr>
          <p:nvPr/>
        </p:nvSpPr>
        <p:spPr>
          <a:xfrm xmlns:a="http://schemas.openxmlformats.org/drawingml/2006/main">
            <a:off x="7953375" y="2190750"/>
            <a:ext cx="3333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14300">
              <a:spcAft>
                <a:spcPts val="1000"/>
              </a:spcAft>
              <a:buChar char="•"/>
              <a:defRPr sz="1425">
                <a:solidFill>
                  <a:srgbClr val="20252B"/>
                </a:solidFill>
                <a:latin typeface="Aptos"/>
                <a:ea typeface="Aptos"/>
                <a:cs typeface="Aptos"/>
              </a:defRPr>
            </a:pPr>
            <a:r>
              <a:rPr sz="1425">
                <a:solidFill>
                  <a:srgbClr val="20252B"/>
                </a:solidFill>
                <a:latin typeface="Aptos"/>
                <a:ea typeface="Aptos"/>
                <a:cs typeface="Aptos"/>
              </a:rPr>
              <a:t>Peer median EV / revenue of 1.14x implies £3.91 per share.</a:t>
            </a:r>
          </a:p>
          <a:p xmlns:a="http://schemas.openxmlformats.org/drawingml/2006/main">
            <a:pPr marL="228600" indent="-114300">
              <a:spcAft>
                <a:spcPts val="1000"/>
              </a:spcAft>
              <a:buChar char="•"/>
              <a:defRPr sz="1425">
                <a:solidFill>
                  <a:srgbClr val="20252B"/>
                </a:solidFill>
                <a:latin typeface="Aptos"/>
                <a:ea typeface="Aptos"/>
                <a:cs typeface="Aptos"/>
              </a:defRPr>
            </a:pPr>
            <a:r>
              <a:rPr sz="1425">
                <a:solidFill>
                  <a:srgbClr val="20252B"/>
                </a:solidFill>
                <a:latin typeface="Aptos"/>
                <a:ea typeface="Aptos"/>
                <a:cs typeface="Aptos"/>
              </a:rPr>
              <a:t>Peer median EV / operating profit of 13.41x implies £5.29.</a:t>
            </a:r>
          </a:p>
          <a:p xmlns:a="http://schemas.openxmlformats.org/drawingml/2006/main">
            <a:pPr marL="228600" indent="-114300">
              <a:spcAft>
                <a:spcPts val="1000"/>
              </a:spcAft>
              <a:buChar char="•"/>
              <a:defRPr sz="1425">
                <a:solidFill>
                  <a:srgbClr val="20252B"/>
                </a:solidFill>
                <a:latin typeface="Aptos"/>
                <a:ea typeface="Aptos"/>
                <a:cs typeface="Aptos"/>
              </a:defRPr>
            </a:pPr>
            <a:r>
              <a:rPr sz="1425">
                <a:solidFill>
                  <a:srgbClr val="20252B"/>
                </a:solidFill>
                <a:latin typeface="Aptos"/>
                <a:ea typeface="Aptos"/>
                <a:cs typeface="Aptos"/>
              </a:rPr>
              <a:t>QinetiQ's 11.3% margin is above several service-heavy peers, making the EBIT result more relevant.</a:t>
            </a:r>
          </a:p>
          <a:p xmlns:a="http://schemas.openxmlformats.org/drawingml/2006/main">
            <a:pPr marL="228600" indent="-114300">
              <a:spcAft>
                <a:spcPts val="1000"/>
              </a:spcAft>
              <a:buChar char="•"/>
              <a:defRPr sz="1425">
                <a:solidFill>
                  <a:srgbClr val="20252B"/>
                </a:solidFill>
                <a:latin typeface="Aptos"/>
                <a:ea typeface="Aptos"/>
                <a:cs typeface="Aptos"/>
              </a:defRPr>
            </a:pPr>
            <a:r>
              <a:rPr sz="1425">
                <a:solidFill>
                  <a:srgbClr val="20252B"/>
                </a:solidFill>
                <a:latin typeface="Aptos"/>
                <a:ea typeface="Aptos"/>
                <a:cs typeface="Aptos"/>
              </a:rPr>
              <a:t>Precedent deals support transaction upside but include control premiums and synergies.</a:t>
            </a:r>
          </a:p>
        </p:txBody>
      </p:sp>
      <p:sp>
        <p:nvSpPr>
          <p:cNvPr id="8" name="">
            <a:extLst xmlns:a="http://schemas.openxmlformats.org/drawingml/2006/main">
              <a:ext uri="{FF2B5EF4-FFF2-40B4-BE49-F238E27FC236}">
                <a16:creationId xmlns:a16="http://schemas.microsoft.com/office/drawing/2014/main" id="{3FC9AF4A-1267-4FF6-9867-AAA70555A00F}"/>
              </a:ext>
            </a:extLst>
          </p:cNvPr>
          <p:cNvSpPr>
            <a:spLocks xmlns:a="http://schemas.openxmlformats.org/drawingml/2006/main" noGrp="1"/>
          </p:cNvSpPr>
          <p:nvPr/>
        </p:nvSpPr>
        <p:spPr>
          <a:xfrm xmlns:a="http://schemas.openxmlformats.org/drawingml/2006/main">
            <a:off x="609600" y="651510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66717E"/>
                </a:solidFill>
                <a:latin typeface="Aptos"/>
                <a:ea typeface="Aptos"/>
                <a:cs typeface="Aptos"/>
              </a:defRPr>
            </a:pPr>
            <a:r>
              <a:rPr sz="900" b="0">
                <a:solidFill>
                  <a:srgbClr val="66717E"/>
                </a:solidFill>
                <a:latin typeface="Aptos"/>
                <a:ea typeface="Aptos"/>
                <a:cs typeface="Aptos"/>
              </a:rPr>
              <a:t>QinetiQ valuation and strategic review</a:t>
            </a:r>
          </a:p>
        </p:txBody>
      </p:sp>
      <p:sp>
        <p:nvSpPr>
          <p:cNvPr id="9" name="">
            <a:extLst xmlns:a="http://schemas.openxmlformats.org/drawingml/2006/main">
              <a:ext uri="{FF2B5EF4-FFF2-40B4-BE49-F238E27FC236}">
                <a16:creationId xmlns:a16="http://schemas.microsoft.com/office/drawing/2014/main" id="{AFBA02DB-89AD-4089-875F-11CC064D0D63}"/>
              </a:ext>
            </a:extLst>
          </p:cNvPr>
          <p:cNvSpPr>
            <a:spLocks xmlns:a="http://schemas.openxmlformats.org/drawingml/2006/main" noGrp="1"/>
          </p:cNvSpPr>
          <p:nvPr/>
        </p:nvSpPr>
        <p:spPr>
          <a:xfrm xmlns:a="http://schemas.openxmlformats.org/drawingml/2006/main">
            <a:off x="11029950" y="6515100"/>
            <a:ext cx="552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66717E"/>
                </a:solidFill>
                <a:latin typeface="Aptos"/>
                <a:ea typeface="Aptos"/>
                <a:cs typeface="Aptos"/>
              </a:defRPr>
            </a:pPr>
            <a:r>
              <a:rPr sz="900" b="0">
                <a:solidFill>
                  <a:srgbClr val="66717E"/>
                </a:solidFill>
                <a:latin typeface="Aptos"/>
                <a:ea typeface="Aptos"/>
                <a:cs typeface="Aptos"/>
              </a:rPr>
              <a:t>7</a:t>
            </a:r>
          </a:p>
        </p:txBody>
      </p:sp>
    </p:spTree>
    <p:extLst>
      <p:ext uri="{BB962C8B-B14F-4D97-AF65-F5344CB8AC3E}">
        <p14:creationId xmlns:p14="http://schemas.microsoft.com/office/powerpoint/2010/main" val="146976523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896ED8B-A18A-41D8-B902-91A3B7D8D2E6}"/>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17365D"/>
                </a:solidFill>
                <a:latin typeface="Aptos"/>
                <a:ea typeface="Aptos"/>
                <a:cs typeface="Aptos"/>
              </a:defRPr>
            </a:pPr>
            <a:r>
              <a:rPr sz="2850" b="1">
                <a:solidFill>
                  <a:srgbClr val="17365D"/>
                </a:solidFill>
                <a:latin typeface="Aptos"/>
                <a:ea typeface="Aptos"/>
                <a:cs typeface="Aptos"/>
              </a:rPr>
              <a:t>Strategic alternatives</a:t>
            </a:r>
          </a:p>
        </p:txBody>
      </p:sp>
      <p:sp>
        <p:nvSpPr>
          <p:cNvPr id="2" name="">
            <a:extLst xmlns:a="http://schemas.openxmlformats.org/drawingml/2006/main">
              <a:ext uri="{FF2B5EF4-FFF2-40B4-BE49-F238E27FC236}">
                <a16:creationId xmlns:a16="http://schemas.microsoft.com/office/drawing/2014/main" id="{C30CA54C-CBEC-4977-9AA4-048D85787B7C}"/>
              </a:ext>
            </a:extLst>
          </p:cNvPr>
          <p:cNvSpPr>
            <a:spLocks xmlns:a="http://schemas.openxmlformats.org/drawingml/2006/main" noGrp="1"/>
          </p:cNvSpPr>
          <p:nvPr/>
        </p:nvSpPr>
        <p:spPr>
          <a:xfrm xmlns:a="http://schemas.openxmlformats.org/drawingml/2006/main">
            <a:off x="628650" y="857250"/>
            <a:ext cx="1093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6717E"/>
                </a:solidFill>
                <a:latin typeface="Aptos"/>
                <a:ea typeface="Aptos"/>
                <a:cs typeface="Aptos"/>
              </a:defRPr>
            </a:pPr>
            <a:r>
              <a:rPr sz="1350" b="0">
                <a:solidFill>
                  <a:srgbClr val="66717E"/>
                </a:solidFill>
                <a:latin typeface="Aptos"/>
                <a:ea typeface="Aptos"/>
                <a:cs typeface="Aptos"/>
              </a:rPr>
              <a:t>A second restructuring is value neutral; a sale creates value only above the break-even multiple</a:t>
            </a:r>
          </a:p>
        </p:txBody>
      </p:sp>
      <p:sp>
        <p:nvSpPr>
          <p:cNvPr id="3" name="">
            <a:extLst xmlns:a="http://schemas.openxmlformats.org/drawingml/2006/main">
              <a:ext uri="{FF2B5EF4-FFF2-40B4-BE49-F238E27FC236}">
                <a16:creationId xmlns:a16="http://schemas.microsoft.com/office/drawing/2014/main" id="{4E748E23-10C0-4FAE-A662-B2C621B7D25C}"/>
              </a:ext>
            </a:extLst>
          </p:cNvPr>
          <p:cNvSpPr>
            <a:spLocks xmlns:a="http://schemas.openxmlformats.org/drawingml/2006/main" noGrp="1"/>
          </p:cNvSpPr>
          <p:nvPr/>
        </p:nvSpPr>
        <p:spPr>
          <a:xfrm xmlns:a="http://schemas.openxmlformats.org/drawingml/2006/main">
            <a:off x="609600" y="1200150"/>
            <a:ext cx="10972800" cy="28575"/>
          </a:xfrm>
          <a:prstGeom xmlns:a="http://schemas.openxmlformats.org/drawingml/2006/main" prst="rect">
            <a:avLst/>
          </a:prstGeom>
          <a:solidFill xmlns:a="http://schemas.openxmlformats.org/drawingml/2006/main">
            <a:srgbClr val="2F75B5"/>
          </a:solidFill>
          <a:ln xmlns:a="http://schemas.openxmlformats.org/drawingml/2006/main" w="0">
            <a:noFill/>
          </a:ln>
        </p:spPr>
      </p:sp>
      <p:graphicFrame>
        <p:nvGraphicFramePr>
          <p:cNvPr id="12" name=""/>
          <p:cNvGraphicFramePr/>
          <p:nvPr/>
        </p:nvGraphicFramePr>
        <p:xfrm>
          <a:off xmlns:a="http://schemas.openxmlformats.org/drawingml/2006/main" x="628650" y="1571625"/>
          <a:ext xmlns:a="http://schemas.openxmlformats.org/drawingml/2006/main" cx="10934700" cy="3714750"/>
        </p:xfrm>
        <a:graphic xmlns:a="http://schemas.openxmlformats.org/drawingml/2006/main">
          <a:graphicData uri="http://schemas.openxmlformats.org/drawingml/2006/table">
            <a:tbl>
              <a:tblPr/>
              <a:tblGrid>
                <a:gridCol w="2428875"/>
                <a:gridCol w="1714500"/>
                <a:gridCol w="1714500"/>
                <a:gridCol w="5076825"/>
              </a:tblGrid>
              <a:tr h="619125">
                <a:tc>
                  <a:txBody>
                    <a:bodyPr/>
                    <a:lstStyle/>
                    <a:p>
                      <a:pPr algn="ctr"/>
                      <a:r>
                        <a:rPr sz="1200" b="1">
                          <a:solidFill>
                            <a:srgbClr val="FFFFFF"/>
                          </a:solidFill>
                          <a:latin typeface="Aptos"/>
                          <a:ea typeface="Aptos"/>
                          <a:cs typeface="Aptos"/>
                        </a:rPr>
                        <a:t>Alternative</a:t>
                      </a:r>
                    </a:p>
                  </a:txBody>
                  <a:tcPr marL="95250" marR="95250" marT="57150" marB="57150" anchor="ctr">
                    <a:solidFill>
                      <a:srgbClr val="17365D"/>
                    </a:solidFill>
                  </a:tcPr>
                </a:tc>
                <a:tc>
                  <a:txBody>
                    <a:bodyPr/>
                    <a:lstStyle/>
                    <a:p>
                      <a:pPr algn="ctr"/>
                      <a:r>
                        <a:rPr sz="1200" b="1">
                          <a:solidFill>
                            <a:srgbClr val="FFFFFF"/>
                          </a:solidFill>
                          <a:latin typeface="Aptos"/>
                          <a:ea typeface="Aptos"/>
                          <a:cs typeface="Aptos"/>
                        </a:rPr>
                        <a:t>Value / share</a:t>
                      </a:r>
                    </a:p>
                  </a:txBody>
                  <a:tcPr marL="95250" marR="95250" marT="57150" marB="57150" anchor="ctr">
                    <a:solidFill>
                      <a:srgbClr val="17365D"/>
                    </a:solidFill>
                  </a:tcPr>
                </a:tc>
                <a:tc>
                  <a:txBody>
                    <a:bodyPr/>
                    <a:lstStyle/>
                    <a:p>
                      <a:pPr algn="ctr"/>
                      <a:r>
                        <a:rPr sz="1200" b="1">
                          <a:solidFill>
                            <a:srgbClr val="FFFFFF"/>
                          </a:solidFill>
                          <a:latin typeface="Aptos"/>
                          <a:ea typeface="Aptos"/>
                          <a:cs typeface="Aptos"/>
                        </a:rPr>
                        <a:t>Vs. base</a:t>
                      </a:r>
                    </a:p>
                  </a:txBody>
                  <a:tcPr marL="95250" marR="95250" marT="57150" marB="57150" anchor="ctr">
                    <a:solidFill>
                      <a:srgbClr val="17365D"/>
                    </a:solidFill>
                  </a:tcPr>
                </a:tc>
                <a:tc>
                  <a:txBody>
                    <a:bodyPr/>
                    <a:lstStyle/>
                    <a:p>
                      <a:pPr algn="ctr"/>
                      <a:r>
                        <a:rPr sz="1200" b="1">
                          <a:solidFill>
                            <a:srgbClr val="FFFFFF"/>
                          </a:solidFill>
                          <a:latin typeface="Aptos"/>
                          <a:ea typeface="Aptos"/>
                          <a:cs typeface="Aptos"/>
                        </a:rPr>
                        <a:t>Interpretation</a:t>
                      </a:r>
                    </a:p>
                  </a:txBody>
                  <a:tcPr marL="95250" marR="95250" marT="57150" marB="57150" anchor="ctr">
                    <a:solidFill>
                      <a:srgbClr val="17365D"/>
                    </a:solidFill>
                  </a:tcPr>
                </a:tc>
              </a:tr>
              <a:tr h="619125">
                <a:tc>
                  <a:txBody>
                    <a:bodyPr/>
                    <a:lstStyle/>
                    <a:p>
                      <a:pPr algn="l"/>
                      <a:r>
                        <a:rPr sz="1200">
                          <a:solidFill>
                            <a:srgbClr val="20252B"/>
                          </a:solidFill>
                          <a:latin typeface="Aptos"/>
                          <a:ea typeface="Aptos"/>
                          <a:cs typeface="Aptos"/>
                        </a:rPr>
                        <a:t>Retain with limited improvement</a:t>
                      </a:r>
                    </a:p>
                  </a:txBody>
                  <a:tcPr marL="95250" marR="95250" marT="47625" marB="47625" anchor="ctr"/>
                </a:tc>
                <a:tc>
                  <a:txBody>
                    <a:bodyPr/>
                    <a:lstStyle/>
                    <a:p>
                      <a:pPr algn="ctr"/>
                      <a:r>
                        <a:rPr sz="1200">
                          <a:solidFill>
                            <a:srgbClr val="20252B"/>
                          </a:solidFill>
                          <a:latin typeface="Aptos"/>
                          <a:ea typeface="Aptos"/>
                          <a:cs typeface="Aptos"/>
                        </a:rPr>
                        <a:t>£5.51</a:t>
                      </a:r>
                    </a:p>
                  </a:txBody>
                  <a:tcPr marL="95250" marR="95250" marT="47625" marB="47625" anchor="ctr"/>
                </a:tc>
                <a:tc>
                  <a:txBody>
                    <a:bodyPr/>
                    <a:lstStyle/>
                    <a:p>
                      <a:pPr algn="ctr"/>
                      <a:r>
                        <a:rPr sz="1200">
                          <a:solidFill>
                            <a:srgbClr val="20252B"/>
                          </a:solidFill>
                          <a:latin typeface="Aptos"/>
                          <a:ea typeface="Aptos"/>
                          <a:cs typeface="Aptos"/>
                        </a:rPr>
                        <a:t>—</a:t>
                      </a:r>
                    </a:p>
                  </a:txBody>
                  <a:tcPr marL="95250" marR="95250" marT="47625" marB="47625" anchor="ctr"/>
                </a:tc>
                <a:tc>
                  <a:txBody>
                    <a:bodyPr/>
                    <a:lstStyle/>
                    <a:p>
                      <a:pPr algn="ctr"/>
                      <a:r>
                        <a:rPr sz="1200">
                          <a:solidFill>
                            <a:srgbClr val="20252B"/>
                          </a:solidFill>
                          <a:latin typeface="Aptos"/>
                          <a:ea typeface="Aptos"/>
                          <a:cs typeface="Aptos"/>
                        </a:rPr>
                        <a:t>Decision benchmark</a:t>
                      </a:r>
                    </a:p>
                  </a:txBody>
                  <a:tcPr marL="95250" marR="95250" marT="47625" marB="47625" anchor="ctr"/>
                </a:tc>
              </a:tr>
              <a:tr h="619125">
                <a:tc>
                  <a:txBody>
                    <a:bodyPr/>
                    <a:lstStyle/>
                    <a:p>
                      <a:pPr algn="l"/>
                      <a:r>
                        <a:rPr sz="1200">
                          <a:solidFill>
                            <a:srgbClr val="20252B"/>
                          </a:solidFill>
                          <a:latin typeface="Aptos"/>
                          <a:ea typeface="Aptos"/>
                          <a:cs typeface="Aptos"/>
                        </a:rPr>
                        <a:t>Retain and restructure</a:t>
                      </a:r>
                    </a:p>
                  </a:txBody>
                  <a:tcPr marL="95250" marR="95250" marT="47625" marB="47625" anchor="ctr">
                    <a:solidFill>
                      <a:srgbClr val="F4F7FA"/>
                    </a:solidFill>
                  </a:tcPr>
                </a:tc>
                <a:tc>
                  <a:txBody>
                    <a:bodyPr/>
                    <a:lstStyle/>
                    <a:p>
                      <a:pPr algn="ctr"/>
                      <a:r>
                        <a:rPr sz="1200">
                          <a:solidFill>
                            <a:srgbClr val="20252B"/>
                          </a:solidFill>
                          <a:latin typeface="Aptos"/>
                          <a:ea typeface="Aptos"/>
                          <a:cs typeface="Aptos"/>
                        </a:rPr>
                        <a:t>£5.52</a:t>
                      </a:r>
                    </a:p>
                  </a:txBody>
                  <a:tcPr marL="95250" marR="95250" marT="47625" marB="47625" anchor="ctr">
                    <a:solidFill>
                      <a:srgbClr val="EAF2F8"/>
                    </a:solidFill>
                  </a:tcPr>
                </a:tc>
                <a:tc>
                  <a:txBody>
                    <a:bodyPr/>
                    <a:lstStyle/>
                    <a:p>
                      <a:pPr algn="ctr"/>
                      <a:r>
                        <a:rPr sz="1200">
                          <a:solidFill>
                            <a:srgbClr val="20252B"/>
                          </a:solidFill>
                          <a:latin typeface="Aptos"/>
                          <a:ea typeface="Aptos"/>
                          <a:cs typeface="Aptos"/>
                        </a:rPr>
                        <a:t>+£0.01</a:t>
                      </a:r>
                    </a:p>
                  </a:txBody>
                  <a:tcPr marL="95250" marR="95250" marT="47625" marB="47625" anchor="ctr">
                    <a:solidFill>
                      <a:srgbClr val="F4F7FA"/>
                    </a:solidFill>
                  </a:tcPr>
                </a:tc>
                <a:tc>
                  <a:txBody>
                    <a:bodyPr/>
                    <a:lstStyle/>
                    <a:p>
                      <a:pPr algn="ctr"/>
                      <a:r>
                        <a:rPr sz="1200">
                          <a:solidFill>
                            <a:srgbClr val="20252B"/>
                          </a:solidFill>
                          <a:latin typeface="Aptos"/>
                          <a:ea typeface="Aptos"/>
                          <a:cs typeface="Aptos"/>
                        </a:rPr>
                        <a:t>Long-run benefit largely offset by £25m gross cost and disruption</a:t>
                      </a:r>
                    </a:p>
                  </a:txBody>
                  <a:tcPr marL="95250" marR="95250" marT="47625" marB="47625" anchor="ctr">
                    <a:solidFill>
                      <a:srgbClr val="F4F7FA"/>
                    </a:solidFill>
                  </a:tcPr>
                </a:tc>
              </a:tr>
              <a:tr h="619125">
                <a:tc>
                  <a:txBody>
                    <a:bodyPr/>
                    <a:lstStyle/>
                    <a:p>
                      <a:pPr algn="l"/>
                      <a:r>
                        <a:rPr sz="1200">
                          <a:solidFill>
                            <a:srgbClr val="20252B"/>
                          </a:solidFill>
                          <a:latin typeface="Aptos"/>
                          <a:ea typeface="Aptos"/>
                          <a:cs typeface="Aptos"/>
                        </a:rPr>
                        <a:t>Sell US at 1.00x revenue</a:t>
                      </a:r>
                    </a:p>
                  </a:txBody>
                  <a:tcPr marL="95250" marR="95250" marT="47625" marB="47625" anchor="ctr"/>
                </a:tc>
                <a:tc>
                  <a:txBody>
                    <a:bodyPr/>
                    <a:lstStyle/>
                    <a:p>
                      <a:pPr algn="ctr"/>
                      <a:r>
                        <a:rPr sz="1200">
                          <a:solidFill>
                            <a:srgbClr val="20252B"/>
                          </a:solidFill>
                          <a:latin typeface="Aptos"/>
                          <a:ea typeface="Aptos"/>
                          <a:cs typeface="Aptos"/>
                        </a:rPr>
                        <a:t>£5.44</a:t>
                      </a:r>
                    </a:p>
                  </a:txBody>
                  <a:tcPr marL="95250" marR="95250" marT="47625" marB="47625" anchor="ctr"/>
                </a:tc>
                <a:tc>
                  <a:txBody>
                    <a:bodyPr/>
                    <a:lstStyle/>
                    <a:p>
                      <a:pPr algn="ctr"/>
                      <a:r>
                        <a:rPr sz="1200">
                          <a:solidFill>
                            <a:srgbClr val="20252B"/>
                          </a:solidFill>
                          <a:latin typeface="Aptos"/>
                          <a:ea typeface="Aptos"/>
                          <a:cs typeface="Aptos"/>
                        </a:rPr>
                        <a:t>(£0.07)</a:t>
                      </a:r>
                    </a:p>
                  </a:txBody>
                  <a:tcPr marL="95250" marR="95250" marT="47625" marB="47625" anchor="ctr"/>
                </a:tc>
                <a:tc>
                  <a:txBody>
                    <a:bodyPr/>
                    <a:lstStyle/>
                    <a:p>
                      <a:pPr algn="ctr"/>
                      <a:r>
                        <a:rPr sz="1200">
                          <a:solidFill>
                            <a:srgbClr val="20252B"/>
                          </a:solidFill>
                          <a:latin typeface="Aptos"/>
                          <a:ea typeface="Aptos"/>
                          <a:cs typeface="Aptos"/>
                        </a:rPr>
                        <a:t>Net proceeds do not replace the value of cash flows sold</a:t>
                      </a:r>
                    </a:p>
                  </a:txBody>
                  <a:tcPr marL="95250" marR="95250" marT="47625" marB="47625" anchor="ctr"/>
                </a:tc>
              </a:tr>
              <a:tr h="619125">
                <a:tc>
                  <a:txBody>
                    <a:bodyPr/>
                    <a:lstStyle/>
                    <a:p>
                      <a:pPr algn="l"/>
                      <a:r>
                        <a:rPr sz="1200">
                          <a:solidFill>
                            <a:srgbClr val="20252B"/>
                          </a:solidFill>
                          <a:latin typeface="Aptos"/>
                          <a:ea typeface="Aptos"/>
                          <a:cs typeface="Aptos"/>
                        </a:rPr>
                        <a:t>Sell US at 1.50x revenue</a:t>
                      </a:r>
                    </a:p>
                  </a:txBody>
                  <a:tcPr marL="95250" marR="95250" marT="47625" marB="47625" anchor="ctr">
                    <a:solidFill>
                      <a:srgbClr val="F4F7FA"/>
                    </a:solidFill>
                  </a:tcPr>
                </a:tc>
                <a:tc>
                  <a:txBody>
                    <a:bodyPr/>
                    <a:lstStyle/>
                    <a:p>
                      <a:pPr algn="ctr"/>
                      <a:r>
                        <a:rPr sz="1200">
                          <a:solidFill>
                            <a:srgbClr val="20252B"/>
                          </a:solidFill>
                          <a:latin typeface="Aptos"/>
                          <a:ea typeface="Aptos"/>
                          <a:cs typeface="Aptos"/>
                        </a:rPr>
                        <a:t>£5.69</a:t>
                      </a:r>
                    </a:p>
                  </a:txBody>
                  <a:tcPr marL="95250" marR="95250" marT="47625" marB="47625" anchor="ctr">
                    <a:solidFill>
                      <a:srgbClr val="EAF5EF"/>
                    </a:solidFill>
                  </a:tcPr>
                </a:tc>
                <a:tc>
                  <a:txBody>
                    <a:bodyPr/>
                    <a:lstStyle/>
                    <a:p>
                      <a:pPr algn="ctr"/>
                      <a:r>
                        <a:rPr sz="1200">
                          <a:solidFill>
                            <a:srgbClr val="20252B"/>
                          </a:solidFill>
                          <a:latin typeface="Aptos"/>
                          <a:ea typeface="Aptos"/>
                          <a:cs typeface="Aptos"/>
                        </a:rPr>
                        <a:t>+£0.18</a:t>
                      </a:r>
                    </a:p>
                  </a:txBody>
                  <a:tcPr marL="95250" marR="95250" marT="47625" marB="47625" anchor="ctr">
                    <a:solidFill>
                      <a:srgbClr val="F4F7FA"/>
                    </a:solidFill>
                  </a:tcPr>
                </a:tc>
                <a:tc>
                  <a:txBody>
                    <a:bodyPr/>
                    <a:lstStyle/>
                    <a:p>
                      <a:pPr algn="ctr"/>
                      <a:r>
                        <a:rPr sz="1200">
                          <a:solidFill>
                            <a:srgbClr val="20252B"/>
                          </a:solidFill>
                          <a:latin typeface="Aptos"/>
                          <a:ea typeface="Aptos"/>
                          <a:cs typeface="Aptos"/>
                        </a:rPr>
                        <a:t>Creates a more useful buffer for transaction risk</a:t>
                      </a:r>
                    </a:p>
                  </a:txBody>
                  <a:tcPr marL="95250" marR="95250" marT="47625" marB="47625" anchor="ctr">
                    <a:solidFill>
                      <a:srgbClr val="F4F7FA"/>
                    </a:solidFill>
                  </a:tcPr>
                </a:tc>
              </a:tr>
              <a:tr h="619125">
                <a:tc>
                  <a:txBody>
                    <a:bodyPr/>
                    <a:lstStyle/>
                    <a:p>
                      <a:pPr algn="l"/>
                      <a:r>
                        <a:rPr sz="1200">
                          <a:solidFill>
                            <a:srgbClr val="20252B"/>
                          </a:solidFill>
                          <a:latin typeface="Aptos"/>
                          <a:ea typeface="Aptos"/>
                          <a:cs typeface="Aptos"/>
                        </a:rPr>
                        <a:t>Sell US at 1.81x revenue</a:t>
                      </a:r>
                    </a:p>
                  </a:txBody>
                  <a:tcPr marL="95250" marR="95250" marT="47625" marB="47625" anchor="ctr"/>
                </a:tc>
                <a:tc>
                  <a:txBody>
                    <a:bodyPr/>
                    <a:lstStyle/>
                    <a:p>
                      <a:pPr algn="ctr"/>
                      <a:r>
                        <a:rPr sz="1200">
                          <a:solidFill>
                            <a:srgbClr val="20252B"/>
                          </a:solidFill>
                          <a:latin typeface="Aptos"/>
                          <a:ea typeface="Aptos"/>
                          <a:cs typeface="Aptos"/>
                        </a:rPr>
                        <a:t>£5.85</a:t>
                      </a:r>
                    </a:p>
                  </a:txBody>
                  <a:tcPr marL="95250" marR="95250" marT="47625" marB="47625" anchor="ctr">
                    <a:solidFill>
                      <a:srgbClr val="EAF5EF"/>
                    </a:solidFill>
                  </a:tcPr>
                </a:tc>
                <a:tc>
                  <a:txBody>
                    <a:bodyPr/>
                    <a:lstStyle/>
                    <a:p>
                      <a:pPr algn="ctr"/>
                      <a:r>
                        <a:rPr sz="1200">
                          <a:solidFill>
                            <a:srgbClr val="20252B"/>
                          </a:solidFill>
                          <a:latin typeface="Aptos"/>
                          <a:ea typeface="Aptos"/>
                          <a:cs typeface="Aptos"/>
                        </a:rPr>
                        <a:t>+£0.34</a:t>
                      </a:r>
                    </a:p>
                  </a:txBody>
                  <a:tcPr marL="95250" marR="95250" marT="47625" marB="47625" anchor="ctr"/>
                </a:tc>
                <a:tc>
                  <a:txBody>
                    <a:bodyPr/>
                    <a:lstStyle/>
                    <a:p>
                      <a:pPr algn="ctr"/>
                      <a:r>
                        <a:rPr sz="1200">
                          <a:solidFill>
                            <a:srgbClr val="20252B"/>
                          </a:solidFill>
                          <a:latin typeface="Aptos"/>
                          <a:ea typeface="Aptos"/>
                          <a:cs typeface="Aptos"/>
                        </a:rPr>
                        <a:t>Precedent-median upside, conditional on buyer competition</a:t>
                      </a:r>
                    </a:p>
                  </a:txBody>
                  <a:tcPr marL="95250" marR="95250" marT="47625" marB="47625" anchor="ctr"/>
                </a:tc>
              </a:tr>
            </a:tbl>
          </a:graphicData>
        </a:graphic>
      </p:graphicFrame>
      <p:sp>
        <p:nvSpPr>
          <p:cNvPr id="5" name="">
            <a:extLst xmlns:a="http://schemas.openxmlformats.org/drawingml/2006/main">
              <a:ext uri="{FF2B5EF4-FFF2-40B4-BE49-F238E27FC236}">
                <a16:creationId xmlns:a16="http://schemas.microsoft.com/office/drawing/2014/main" id="{1D93C9F9-9A31-4D8C-8A36-375FB61B99A4}"/>
              </a:ext>
            </a:extLst>
          </p:cNvPr>
          <p:cNvSpPr>
            <a:spLocks xmlns:a="http://schemas.openxmlformats.org/drawingml/2006/main" noGrp="1"/>
          </p:cNvSpPr>
          <p:nvPr/>
        </p:nvSpPr>
        <p:spPr>
          <a:xfrm xmlns:a="http://schemas.openxmlformats.org/drawingml/2006/main">
            <a:off x="666750" y="5572125"/>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17365D"/>
                </a:solidFill>
                <a:latin typeface="Aptos"/>
                <a:ea typeface="Aptos"/>
                <a:cs typeface="Aptos"/>
              </a:defRPr>
            </a:pPr>
            <a:r>
              <a:rPr sz="1350" b="1">
                <a:solidFill>
                  <a:srgbClr val="17365D"/>
                </a:solidFill>
                <a:latin typeface="Aptos"/>
                <a:ea typeface="Aptos"/>
                <a:cs typeface="Aptos"/>
              </a:rPr>
              <a:t>Decision insight</a:t>
            </a:r>
          </a:p>
        </p:txBody>
      </p:sp>
      <p:sp>
        <p:nvSpPr>
          <p:cNvPr id="6" name="">
            <a:extLst xmlns:a="http://schemas.openxmlformats.org/drawingml/2006/main">
              <a:ext uri="{FF2B5EF4-FFF2-40B4-BE49-F238E27FC236}">
                <a16:creationId xmlns:a16="http://schemas.microsoft.com/office/drawing/2014/main" id="{4F3A3991-B883-4787-8BC6-561E1B85540C}"/>
              </a:ext>
            </a:extLst>
          </p:cNvPr>
          <p:cNvSpPr>
            <a:spLocks xmlns:a="http://schemas.openxmlformats.org/drawingml/2006/main" noGrp="1"/>
          </p:cNvSpPr>
          <p:nvPr/>
        </p:nvSpPr>
        <p:spPr>
          <a:xfrm xmlns:a="http://schemas.openxmlformats.org/drawingml/2006/main">
            <a:off x="2428875" y="5495925"/>
            <a:ext cx="895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a:solidFill>
                  <a:srgbClr val="20252B"/>
                </a:solidFill>
                <a:latin typeface="Aptos"/>
                <a:ea typeface="Aptos"/>
                <a:cs typeface="Aptos"/>
              </a:defRPr>
            </a:pPr>
            <a:r>
              <a:rPr sz="1425" b="0">
                <a:solidFill>
                  <a:srgbClr val="20252B"/>
                </a:solidFill>
                <a:latin typeface="Aptos"/>
                <a:ea typeface="Aptos"/>
                <a:cs typeface="Aptos"/>
              </a:rPr>
              <a:t>Restructuring mainly preserves strategic flexibility and negotiating leverage. The sale price remains the dominant driver of the strategic recommendation.</a:t>
            </a:r>
          </a:p>
        </p:txBody>
      </p:sp>
      <p:sp>
        <p:nvSpPr>
          <p:cNvPr id="7" name="">
            <a:extLst xmlns:a="http://schemas.openxmlformats.org/drawingml/2006/main">
              <a:ext uri="{FF2B5EF4-FFF2-40B4-BE49-F238E27FC236}">
                <a16:creationId xmlns:a16="http://schemas.microsoft.com/office/drawing/2014/main" id="{CA8CF2AD-6DE1-4971-BE38-02103AF20759}"/>
              </a:ext>
            </a:extLst>
          </p:cNvPr>
          <p:cNvSpPr>
            <a:spLocks xmlns:a="http://schemas.openxmlformats.org/drawingml/2006/main" noGrp="1"/>
          </p:cNvSpPr>
          <p:nvPr/>
        </p:nvSpPr>
        <p:spPr>
          <a:xfrm xmlns:a="http://schemas.openxmlformats.org/drawingml/2006/main">
            <a:off x="609600" y="651510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66717E"/>
                </a:solidFill>
                <a:latin typeface="Aptos"/>
                <a:ea typeface="Aptos"/>
                <a:cs typeface="Aptos"/>
              </a:defRPr>
            </a:pPr>
            <a:r>
              <a:rPr sz="900" b="0">
                <a:solidFill>
                  <a:srgbClr val="66717E"/>
                </a:solidFill>
                <a:latin typeface="Aptos"/>
                <a:ea typeface="Aptos"/>
                <a:cs typeface="Aptos"/>
              </a:rPr>
              <a:t>QinetiQ valuation and strategic review</a:t>
            </a:r>
          </a:p>
        </p:txBody>
      </p:sp>
      <p:sp>
        <p:nvSpPr>
          <p:cNvPr id="8" name="">
            <a:extLst xmlns:a="http://schemas.openxmlformats.org/drawingml/2006/main">
              <a:ext uri="{FF2B5EF4-FFF2-40B4-BE49-F238E27FC236}">
                <a16:creationId xmlns:a16="http://schemas.microsoft.com/office/drawing/2014/main" id="{A86FA3FC-5CB7-4074-BB13-F33EF0DF782B}"/>
              </a:ext>
            </a:extLst>
          </p:cNvPr>
          <p:cNvSpPr>
            <a:spLocks xmlns:a="http://schemas.openxmlformats.org/drawingml/2006/main" noGrp="1"/>
          </p:cNvSpPr>
          <p:nvPr/>
        </p:nvSpPr>
        <p:spPr>
          <a:xfrm xmlns:a="http://schemas.openxmlformats.org/drawingml/2006/main">
            <a:off x="11029950" y="6515100"/>
            <a:ext cx="552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66717E"/>
                </a:solidFill>
                <a:latin typeface="Aptos"/>
                <a:ea typeface="Aptos"/>
                <a:cs typeface="Aptos"/>
              </a:defRPr>
            </a:pPr>
            <a:r>
              <a:rPr sz="900" b="0">
                <a:solidFill>
                  <a:srgbClr val="66717E"/>
                </a:solidFill>
                <a:latin typeface="Aptos"/>
                <a:ea typeface="Aptos"/>
                <a:cs typeface="Aptos"/>
              </a:rPr>
              <a:t>8</a:t>
            </a:r>
          </a:p>
        </p:txBody>
      </p:sp>
    </p:spTree>
    <p:extLst>
      <p:ext uri="{BB962C8B-B14F-4D97-AF65-F5344CB8AC3E}">
        <p14:creationId xmlns:p14="http://schemas.microsoft.com/office/powerpoint/2010/main" val="157372375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F7B881E-052F-4C4A-98C9-3D0C330BADB6}"/>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17365D"/>
                </a:solidFill>
                <a:latin typeface="Aptos"/>
                <a:ea typeface="Aptos"/>
                <a:cs typeface="Aptos"/>
              </a:defRPr>
            </a:pPr>
            <a:r>
              <a:rPr sz="2850" b="1">
                <a:solidFill>
                  <a:srgbClr val="17365D"/>
                </a:solidFill>
                <a:latin typeface="Aptos"/>
                <a:ea typeface="Aptos"/>
                <a:cs typeface="Aptos"/>
              </a:rPr>
              <a:t>US sale decision rule</a:t>
            </a:r>
          </a:p>
        </p:txBody>
      </p:sp>
      <p:sp>
        <p:nvSpPr>
          <p:cNvPr id="2" name="">
            <a:extLst xmlns:a="http://schemas.openxmlformats.org/drawingml/2006/main">
              <a:ext uri="{FF2B5EF4-FFF2-40B4-BE49-F238E27FC236}">
                <a16:creationId xmlns:a16="http://schemas.microsoft.com/office/drawing/2014/main" id="{7A0BFAA5-1044-463B-9FFF-874D3B865000}"/>
              </a:ext>
            </a:extLst>
          </p:cNvPr>
          <p:cNvSpPr>
            <a:spLocks xmlns:a="http://schemas.openxmlformats.org/drawingml/2006/main" noGrp="1"/>
          </p:cNvSpPr>
          <p:nvPr/>
        </p:nvSpPr>
        <p:spPr>
          <a:xfrm xmlns:a="http://schemas.openxmlformats.org/drawingml/2006/main">
            <a:off x="628650" y="857250"/>
            <a:ext cx="1093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6717E"/>
                </a:solidFill>
                <a:latin typeface="Aptos"/>
                <a:ea typeface="Aptos"/>
                <a:cs typeface="Aptos"/>
              </a:defRPr>
            </a:pPr>
            <a:r>
              <a:rPr sz="1350" b="0">
                <a:solidFill>
                  <a:srgbClr val="66717E"/>
                </a:solidFill>
                <a:latin typeface="Aptos"/>
                <a:ea typeface="Aptos"/>
                <a:cs typeface="Aptos"/>
              </a:rPr>
              <a:t>Approximately 1.13x revenue is break-even; the recommendation requires a higher risk buffer</a:t>
            </a:r>
          </a:p>
        </p:txBody>
      </p:sp>
      <p:sp>
        <p:nvSpPr>
          <p:cNvPr id="3" name="">
            <a:extLst xmlns:a="http://schemas.openxmlformats.org/drawingml/2006/main">
              <a:ext uri="{FF2B5EF4-FFF2-40B4-BE49-F238E27FC236}">
                <a16:creationId xmlns:a16="http://schemas.microsoft.com/office/drawing/2014/main" id="{5440124A-99CB-442D-A010-096F2ADF967B}"/>
              </a:ext>
            </a:extLst>
          </p:cNvPr>
          <p:cNvSpPr>
            <a:spLocks xmlns:a="http://schemas.openxmlformats.org/drawingml/2006/main" noGrp="1"/>
          </p:cNvSpPr>
          <p:nvPr/>
        </p:nvSpPr>
        <p:spPr>
          <a:xfrm xmlns:a="http://schemas.openxmlformats.org/drawingml/2006/main">
            <a:off x="609600" y="1200150"/>
            <a:ext cx="10972800" cy="28575"/>
          </a:xfrm>
          <a:prstGeom xmlns:a="http://schemas.openxmlformats.org/drawingml/2006/main" prst="rect">
            <a:avLst/>
          </a:prstGeom>
          <a:solidFill xmlns:a="http://schemas.openxmlformats.org/drawingml/2006/main">
            <a:srgbClr val="2F75B5"/>
          </a:solidFill>
          <a:ln xmlns:a="http://schemas.openxmlformats.org/drawingml/2006/main" w="0">
            <a:noFill/>
          </a:ln>
        </p:spPr>
      </p:sp>
      <p:graphicFrame>
        <p:nvGraphicFramePr>
          <p:cNvPr id="21" name="Chart"/>
          <p:cNvGraphicFramePr/>
          <p:nvPr/>
        </p:nvGraphicFramePr>
        <p:xfrm>
          <a:off xmlns:a="http://schemas.openxmlformats.org/drawingml/2006/main" x="619125" y="1666875"/>
          <a:ext xmlns:a="http://schemas.openxmlformats.org/drawingml/2006/main" cx="7143750" cy="3810000"/>
        </p:xfrm>
        <a:graphic xmlns:a="http://schemas.openxmlformats.org/drawingml/2006/main">
          <a:graphicData uri="http://schemas.openxmlformats.org/drawingml/2006/chart">
            <c:chart xmlns:r="http://schemas.openxmlformats.org/officeDocument/2006/relationships" xmlns:c="http://schemas.openxmlformats.org/drawingml/2006/chart" r:id="Ra3cab37941fb4cfd"/>
          </a:graphicData>
        </a:graphic>
      </p:graphicFrame>
      <p:sp>
        <p:nvSpPr>
          <p:cNvPr id="5" name="">
            <a:extLst xmlns:a="http://schemas.openxmlformats.org/drawingml/2006/main">
              <a:ext uri="{FF2B5EF4-FFF2-40B4-BE49-F238E27FC236}">
                <a16:creationId xmlns:a16="http://schemas.microsoft.com/office/drawing/2014/main" id="{C0E426EA-8C35-457D-B04A-1398E1D6421F}"/>
              </a:ext>
            </a:extLst>
          </p:cNvPr>
          <p:cNvSpPr>
            <a:spLocks xmlns:a="http://schemas.openxmlformats.org/drawingml/2006/main" noGrp="1"/>
          </p:cNvSpPr>
          <p:nvPr/>
        </p:nvSpPr>
        <p:spPr>
          <a:xfrm xmlns:a="http://schemas.openxmlformats.org/drawingml/2006/main">
            <a:off x="781050" y="138112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17365D"/>
                </a:solidFill>
                <a:latin typeface="Aptos"/>
                <a:ea typeface="Aptos"/>
                <a:cs typeface="Aptos"/>
              </a:defRPr>
            </a:pPr>
            <a:r>
              <a:rPr sz="1350" b="1">
                <a:solidFill>
                  <a:srgbClr val="17365D"/>
                </a:solidFill>
                <a:latin typeface="Aptos"/>
                <a:ea typeface="Aptos"/>
                <a:cs typeface="Aptos"/>
              </a:rPr>
              <a:t>Implied value per share (£)</a:t>
            </a:r>
          </a:p>
        </p:txBody>
      </p:sp>
      <p:sp>
        <p:nvSpPr>
          <p:cNvPr id="6" name="">
            <a:extLst xmlns:a="http://schemas.openxmlformats.org/drawingml/2006/main">
              <a:ext uri="{FF2B5EF4-FFF2-40B4-BE49-F238E27FC236}">
                <a16:creationId xmlns:a16="http://schemas.microsoft.com/office/drawing/2014/main" id="{CA42F4AB-22A4-4C34-A9D9-701DA8EF6B44}"/>
              </a:ext>
            </a:extLst>
          </p:cNvPr>
          <p:cNvSpPr>
            <a:spLocks xmlns:a="http://schemas.openxmlformats.org/drawingml/2006/main" noGrp="1"/>
          </p:cNvSpPr>
          <p:nvPr/>
        </p:nvSpPr>
        <p:spPr>
          <a:xfrm xmlns:a="http://schemas.openxmlformats.org/drawingml/2006/main">
            <a:off x="8096250" y="17145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7365D"/>
                </a:solidFill>
                <a:latin typeface="Aptos"/>
                <a:ea typeface="Aptos"/>
                <a:cs typeface="Aptos"/>
              </a:defRPr>
            </a:pPr>
            <a:r>
              <a:rPr sz="1875" b="1">
                <a:solidFill>
                  <a:srgbClr val="17365D"/>
                </a:solidFill>
                <a:latin typeface="Aptos"/>
                <a:ea typeface="Aptos"/>
                <a:cs typeface="Aptos"/>
              </a:rPr>
              <a:t>Practical thresholds</a:t>
            </a:r>
          </a:p>
        </p:txBody>
      </p:sp>
      <p:sp>
        <p:nvSpPr>
          <p:cNvPr id="7" name="">
            <a:extLst xmlns:a="http://schemas.openxmlformats.org/drawingml/2006/main">
              <a:ext uri="{FF2B5EF4-FFF2-40B4-BE49-F238E27FC236}">
                <a16:creationId xmlns:a16="http://schemas.microsoft.com/office/drawing/2014/main" id="{730A5682-61C0-4510-A4DE-A48941A62CAC}"/>
              </a:ext>
            </a:extLst>
          </p:cNvPr>
          <p:cNvSpPr>
            <a:spLocks xmlns:a="http://schemas.openxmlformats.org/drawingml/2006/main" noGrp="1"/>
          </p:cNvSpPr>
          <p:nvPr/>
        </p:nvSpPr>
        <p:spPr>
          <a:xfrm xmlns:a="http://schemas.openxmlformats.org/drawingml/2006/main">
            <a:off x="8096250" y="2333625"/>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66717E"/>
                </a:solidFill>
                <a:latin typeface="Aptos"/>
                <a:ea typeface="Aptos"/>
                <a:cs typeface="Aptos"/>
              </a:defRPr>
            </a:pPr>
            <a:r>
              <a:rPr sz="1050" b="1">
                <a:solidFill>
                  <a:srgbClr val="66717E"/>
                </a:solidFill>
                <a:latin typeface="Aptos"/>
                <a:ea typeface="Aptos"/>
                <a:cs typeface="Aptos"/>
              </a:rPr>
              <a:t>REJECT</a:t>
            </a:r>
          </a:p>
        </p:txBody>
      </p:sp>
      <p:sp>
        <p:nvSpPr>
          <p:cNvPr id="8" name="">
            <a:extLst xmlns:a="http://schemas.openxmlformats.org/drawingml/2006/main">
              <a:ext uri="{FF2B5EF4-FFF2-40B4-BE49-F238E27FC236}">
                <a16:creationId xmlns:a16="http://schemas.microsoft.com/office/drawing/2014/main" id="{394A7DAC-06A0-4C01-9CF8-8B56C873E19F}"/>
              </a:ext>
            </a:extLst>
          </p:cNvPr>
          <p:cNvSpPr>
            <a:spLocks xmlns:a="http://schemas.openxmlformats.org/drawingml/2006/main" noGrp="1"/>
          </p:cNvSpPr>
          <p:nvPr/>
        </p:nvSpPr>
        <p:spPr>
          <a:xfrm xmlns:a="http://schemas.openxmlformats.org/drawingml/2006/main">
            <a:off x="8096250" y="2571750"/>
            <a:ext cx="314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A8443A"/>
                </a:solidFill>
                <a:latin typeface="Aptos"/>
                <a:ea typeface="Aptos"/>
                <a:cs typeface="Aptos"/>
              </a:defRPr>
            </a:pPr>
            <a:r>
              <a:rPr sz="2550" b="1">
                <a:solidFill>
                  <a:srgbClr val="A8443A"/>
                </a:solidFill>
                <a:latin typeface="Aptos"/>
                <a:ea typeface="Aptos"/>
                <a:cs typeface="Aptos"/>
              </a:rPr>
              <a:t>~1.00x</a:t>
            </a:r>
          </a:p>
        </p:txBody>
      </p:sp>
      <p:sp>
        <p:nvSpPr>
          <p:cNvPr id="9" name="">
            <a:extLst xmlns:a="http://schemas.openxmlformats.org/drawingml/2006/main">
              <a:ext uri="{FF2B5EF4-FFF2-40B4-BE49-F238E27FC236}">
                <a16:creationId xmlns:a16="http://schemas.microsoft.com/office/drawing/2014/main" id="{37563A18-24E8-4EAB-A770-29A92C7CB033}"/>
              </a:ext>
            </a:extLst>
          </p:cNvPr>
          <p:cNvSpPr>
            <a:spLocks xmlns:a="http://schemas.openxmlformats.org/drawingml/2006/main" noGrp="1"/>
          </p:cNvSpPr>
          <p:nvPr/>
        </p:nvSpPr>
        <p:spPr>
          <a:xfrm xmlns:a="http://schemas.openxmlformats.org/drawingml/2006/main">
            <a:off x="8096250" y="3038475"/>
            <a:ext cx="314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20252B"/>
                </a:solidFill>
                <a:latin typeface="Aptos"/>
                <a:ea typeface="Aptos"/>
                <a:cs typeface="Aptos"/>
              </a:defRPr>
            </a:pPr>
            <a:r>
              <a:rPr sz="1200" b="0">
                <a:solidFill>
                  <a:srgbClr val="20252B"/>
                </a:solidFill>
                <a:latin typeface="Aptos"/>
                <a:ea typeface="Aptos"/>
                <a:cs typeface="Aptos"/>
              </a:rPr>
              <a:t>£5.44 per share, below the retain case</a:t>
            </a:r>
          </a:p>
        </p:txBody>
      </p:sp>
      <p:sp>
        <p:nvSpPr>
          <p:cNvPr id="10" name="">
            <a:extLst xmlns:a="http://schemas.openxmlformats.org/drawingml/2006/main">
              <a:ext uri="{FF2B5EF4-FFF2-40B4-BE49-F238E27FC236}">
                <a16:creationId xmlns:a16="http://schemas.microsoft.com/office/drawing/2014/main" id="{D67473A9-9C0F-49C5-B31E-E27A4402DD0F}"/>
              </a:ext>
            </a:extLst>
          </p:cNvPr>
          <p:cNvSpPr>
            <a:spLocks xmlns:a="http://schemas.openxmlformats.org/drawingml/2006/main" noGrp="1"/>
          </p:cNvSpPr>
          <p:nvPr/>
        </p:nvSpPr>
        <p:spPr>
          <a:xfrm xmlns:a="http://schemas.openxmlformats.org/drawingml/2006/main">
            <a:off x="8096250" y="352425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66717E"/>
                </a:solidFill>
                <a:latin typeface="Aptos"/>
                <a:ea typeface="Aptos"/>
                <a:cs typeface="Aptos"/>
              </a:defRPr>
            </a:pPr>
            <a:r>
              <a:rPr sz="1050" b="1">
                <a:solidFill>
                  <a:srgbClr val="66717E"/>
                </a:solidFill>
                <a:latin typeface="Aptos"/>
                <a:ea typeface="Aptos"/>
                <a:cs typeface="Aptos"/>
              </a:rPr>
              <a:t>MINIMUM DISCUSSION</a:t>
            </a:r>
          </a:p>
        </p:txBody>
      </p:sp>
      <p:sp>
        <p:nvSpPr>
          <p:cNvPr id="11" name="">
            <a:extLst xmlns:a="http://schemas.openxmlformats.org/drawingml/2006/main">
              <a:ext uri="{FF2B5EF4-FFF2-40B4-BE49-F238E27FC236}">
                <a16:creationId xmlns:a16="http://schemas.microsoft.com/office/drawing/2014/main" id="{43EA482D-7EAB-4B88-9584-F5D032A60C24}"/>
              </a:ext>
            </a:extLst>
          </p:cNvPr>
          <p:cNvSpPr>
            <a:spLocks xmlns:a="http://schemas.openxmlformats.org/drawingml/2006/main" noGrp="1"/>
          </p:cNvSpPr>
          <p:nvPr/>
        </p:nvSpPr>
        <p:spPr>
          <a:xfrm xmlns:a="http://schemas.openxmlformats.org/drawingml/2006/main">
            <a:off x="8096250" y="3762375"/>
            <a:ext cx="314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2F75B5"/>
                </a:solidFill>
                <a:latin typeface="Aptos"/>
                <a:ea typeface="Aptos"/>
                <a:cs typeface="Aptos"/>
              </a:defRPr>
            </a:pPr>
            <a:r>
              <a:rPr sz="2550" b="1">
                <a:solidFill>
                  <a:srgbClr val="2F75B5"/>
                </a:solidFill>
                <a:latin typeface="Aptos"/>
                <a:ea typeface="Aptos"/>
                <a:cs typeface="Aptos"/>
              </a:rPr>
              <a:t>~1.25x</a:t>
            </a:r>
          </a:p>
        </p:txBody>
      </p:sp>
      <p:sp>
        <p:nvSpPr>
          <p:cNvPr id="12" name="">
            <a:extLst xmlns:a="http://schemas.openxmlformats.org/drawingml/2006/main">
              <a:ext uri="{FF2B5EF4-FFF2-40B4-BE49-F238E27FC236}">
                <a16:creationId xmlns:a16="http://schemas.microsoft.com/office/drawing/2014/main" id="{C82E5F62-FFF1-49DC-85E0-7414C528C2FD}"/>
              </a:ext>
            </a:extLst>
          </p:cNvPr>
          <p:cNvSpPr>
            <a:spLocks xmlns:a="http://schemas.openxmlformats.org/drawingml/2006/main" noGrp="1"/>
          </p:cNvSpPr>
          <p:nvPr/>
        </p:nvSpPr>
        <p:spPr>
          <a:xfrm xmlns:a="http://schemas.openxmlformats.org/drawingml/2006/main">
            <a:off x="8096250" y="4229100"/>
            <a:ext cx="314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20252B"/>
                </a:solidFill>
                <a:latin typeface="Aptos"/>
                <a:ea typeface="Aptos"/>
                <a:cs typeface="Aptos"/>
              </a:defRPr>
            </a:pPr>
            <a:r>
              <a:rPr sz="1200" b="0">
                <a:solidFill>
                  <a:srgbClr val="20252B"/>
                </a:solidFill>
                <a:latin typeface="Aptos"/>
                <a:ea typeface="Aptos"/>
                <a:cs typeface="Aptos"/>
              </a:rPr>
              <a:t>Creates limited value and begins to cover execution risk</a:t>
            </a:r>
          </a:p>
        </p:txBody>
      </p:sp>
      <p:sp>
        <p:nvSpPr>
          <p:cNvPr id="13" name="">
            <a:extLst xmlns:a="http://schemas.openxmlformats.org/drawingml/2006/main">
              <a:ext uri="{FF2B5EF4-FFF2-40B4-BE49-F238E27FC236}">
                <a16:creationId xmlns:a16="http://schemas.microsoft.com/office/drawing/2014/main" id="{3A0DE7F3-4BA2-4259-A8E4-128EC735DA88}"/>
              </a:ext>
            </a:extLst>
          </p:cNvPr>
          <p:cNvSpPr>
            <a:spLocks xmlns:a="http://schemas.openxmlformats.org/drawingml/2006/main" noGrp="1"/>
          </p:cNvSpPr>
          <p:nvPr/>
        </p:nvSpPr>
        <p:spPr>
          <a:xfrm xmlns:a="http://schemas.openxmlformats.org/drawingml/2006/main">
            <a:off x="8096250" y="47625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66717E"/>
                </a:solidFill>
                <a:latin typeface="Aptos"/>
                <a:ea typeface="Aptos"/>
                <a:cs typeface="Aptos"/>
              </a:defRPr>
            </a:pPr>
            <a:r>
              <a:rPr sz="1050" b="1">
                <a:solidFill>
                  <a:srgbClr val="66717E"/>
                </a:solidFill>
                <a:latin typeface="Aptos"/>
                <a:ea typeface="Aptos"/>
                <a:cs typeface="Aptos"/>
              </a:rPr>
              <a:t>PREFERRED</a:t>
            </a:r>
          </a:p>
        </p:txBody>
      </p:sp>
      <p:sp>
        <p:nvSpPr>
          <p:cNvPr id="14" name="">
            <a:extLst xmlns:a="http://schemas.openxmlformats.org/drawingml/2006/main">
              <a:ext uri="{FF2B5EF4-FFF2-40B4-BE49-F238E27FC236}">
                <a16:creationId xmlns:a16="http://schemas.microsoft.com/office/drawing/2014/main" id="{F446797E-78E2-4CA8-A0B6-7B4480B12644}"/>
              </a:ext>
            </a:extLst>
          </p:cNvPr>
          <p:cNvSpPr>
            <a:spLocks xmlns:a="http://schemas.openxmlformats.org/drawingml/2006/main" noGrp="1"/>
          </p:cNvSpPr>
          <p:nvPr/>
        </p:nvSpPr>
        <p:spPr>
          <a:xfrm xmlns:a="http://schemas.openxmlformats.org/drawingml/2006/main">
            <a:off x="8096250" y="5000625"/>
            <a:ext cx="314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2E7D5B"/>
                </a:solidFill>
                <a:latin typeface="Aptos"/>
                <a:ea typeface="Aptos"/>
                <a:cs typeface="Aptos"/>
              </a:defRPr>
            </a:pPr>
            <a:r>
              <a:rPr sz="2550" b="1">
                <a:solidFill>
                  <a:srgbClr val="2E7D5B"/>
                </a:solidFill>
                <a:latin typeface="Aptos"/>
                <a:ea typeface="Aptos"/>
                <a:cs typeface="Aptos"/>
              </a:rPr>
              <a:t>~1.50x</a:t>
            </a:r>
          </a:p>
        </p:txBody>
      </p:sp>
      <p:sp>
        <p:nvSpPr>
          <p:cNvPr id="15" name="">
            <a:extLst xmlns:a="http://schemas.openxmlformats.org/drawingml/2006/main">
              <a:ext uri="{FF2B5EF4-FFF2-40B4-BE49-F238E27FC236}">
                <a16:creationId xmlns:a16="http://schemas.microsoft.com/office/drawing/2014/main" id="{122EB092-D595-46C9-93A9-A56AE02D1115}"/>
              </a:ext>
            </a:extLst>
          </p:cNvPr>
          <p:cNvSpPr>
            <a:spLocks xmlns:a="http://schemas.openxmlformats.org/drawingml/2006/main" noGrp="1"/>
          </p:cNvSpPr>
          <p:nvPr/>
        </p:nvSpPr>
        <p:spPr>
          <a:xfrm xmlns:a="http://schemas.openxmlformats.org/drawingml/2006/main">
            <a:off x="8096250" y="5467350"/>
            <a:ext cx="314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20252B"/>
                </a:solidFill>
                <a:latin typeface="Aptos"/>
                <a:ea typeface="Aptos"/>
                <a:cs typeface="Aptos"/>
              </a:defRPr>
            </a:pPr>
            <a:r>
              <a:rPr sz="1200" b="0">
                <a:solidFill>
                  <a:srgbClr val="20252B"/>
                </a:solidFill>
                <a:latin typeface="Aptos"/>
                <a:ea typeface="Aptos"/>
                <a:cs typeface="Aptos"/>
              </a:rPr>
              <a:t>£5.69 per share and a more meaningful buffer</a:t>
            </a:r>
          </a:p>
        </p:txBody>
      </p:sp>
      <p:sp>
        <p:nvSpPr>
          <p:cNvPr id="16" name="">
            <a:extLst xmlns:a="http://schemas.openxmlformats.org/drawingml/2006/main">
              <a:ext uri="{FF2B5EF4-FFF2-40B4-BE49-F238E27FC236}">
                <a16:creationId xmlns:a16="http://schemas.microsoft.com/office/drawing/2014/main" id="{61CF0C7D-632A-4106-B839-7C10C366F905}"/>
              </a:ext>
            </a:extLst>
          </p:cNvPr>
          <p:cNvSpPr>
            <a:spLocks xmlns:a="http://schemas.openxmlformats.org/drawingml/2006/main" noGrp="1"/>
          </p:cNvSpPr>
          <p:nvPr/>
        </p:nvSpPr>
        <p:spPr>
          <a:xfrm xmlns:a="http://schemas.openxmlformats.org/drawingml/2006/main">
            <a:off x="609600" y="651510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66717E"/>
                </a:solidFill>
                <a:latin typeface="Aptos"/>
                <a:ea typeface="Aptos"/>
                <a:cs typeface="Aptos"/>
              </a:defRPr>
            </a:pPr>
            <a:r>
              <a:rPr sz="900" b="0">
                <a:solidFill>
                  <a:srgbClr val="66717E"/>
                </a:solidFill>
                <a:latin typeface="Aptos"/>
                <a:ea typeface="Aptos"/>
                <a:cs typeface="Aptos"/>
              </a:rPr>
              <a:t>QinetiQ valuation and strategic review</a:t>
            </a:r>
          </a:p>
        </p:txBody>
      </p:sp>
      <p:sp>
        <p:nvSpPr>
          <p:cNvPr id="17" name="">
            <a:extLst xmlns:a="http://schemas.openxmlformats.org/drawingml/2006/main">
              <a:ext uri="{FF2B5EF4-FFF2-40B4-BE49-F238E27FC236}">
                <a16:creationId xmlns:a16="http://schemas.microsoft.com/office/drawing/2014/main" id="{198F3B7F-5528-48D0-87F8-619A162C90A2}"/>
              </a:ext>
            </a:extLst>
          </p:cNvPr>
          <p:cNvSpPr>
            <a:spLocks xmlns:a="http://schemas.openxmlformats.org/drawingml/2006/main" noGrp="1"/>
          </p:cNvSpPr>
          <p:nvPr/>
        </p:nvSpPr>
        <p:spPr>
          <a:xfrm xmlns:a="http://schemas.openxmlformats.org/drawingml/2006/main">
            <a:off x="11029950" y="6515100"/>
            <a:ext cx="552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66717E"/>
                </a:solidFill>
                <a:latin typeface="Aptos"/>
                <a:ea typeface="Aptos"/>
                <a:cs typeface="Aptos"/>
              </a:defRPr>
            </a:pPr>
            <a:r>
              <a:rPr sz="900" b="0">
                <a:solidFill>
                  <a:srgbClr val="66717E"/>
                </a:solidFill>
                <a:latin typeface="Aptos"/>
                <a:ea typeface="Aptos"/>
                <a:cs typeface="Aptos"/>
              </a:rPr>
              <a:t>9</a:t>
            </a:r>
          </a:p>
        </p:txBody>
      </p:sp>
    </p:spTree>
    <p:extLst>
      <p:ext uri="{BB962C8B-B14F-4D97-AF65-F5344CB8AC3E}">
        <p14:creationId xmlns:p14="http://schemas.microsoft.com/office/powerpoint/2010/main" val="115187804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AA62D8F-AB68-4FB1-B42B-E2B1EC4F9291}"/>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17365D"/>
                </a:solidFill>
                <a:latin typeface="Aptos"/>
                <a:ea typeface="Aptos"/>
                <a:cs typeface="Aptos"/>
              </a:defRPr>
            </a:pPr>
            <a:r>
              <a:rPr sz="2850" b="1">
                <a:solidFill>
                  <a:srgbClr val="17365D"/>
                </a:solidFill>
                <a:latin typeface="Aptos"/>
                <a:ea typeface="Aptos"/>
                <a:cs typeface="Aptos"/>
              </a:rPr>
              <a:t>Recommendation and key risks</a:t>
            </a:r>
          </a:p>
        </p:txBody>
      </p:sp>
      <p:sp>
        <p:nvSpPr>
          <p:cNvPr id="2" name="">
            <a:extLst xmlns:a="http://schemas.openxmlformats.org/drawingml/2006/main">
              <a:ext uri="{FF2B5EF4-FFF2-40B4-BE49-F238E27FC236}">
                <a16:creationId xmlns:a16="http://schemas.microsoft.com/office/drawing/2014/main" id="{D173B5A8-861D-45B6-B1A0-F047D9B26E67}"/>
              </a:ext>
            </a:extLst>
          </p:cNvPr>
          <p:cNvSpPr>
            <a:spLocks xmlns:a="http://schemas.openxmlformats.org/drawingml/2006/main" noGrp="1"/>
          </p:cNvSpPr>
          <p:nvPr/>
        </p:nvSpPr>
        <p:spPr>
          <a:xfrm xmlns:a="http://schemas.openxmlformats.org/drawingml/2006/main">
            <a:off x="628650" y="857250"/>
            <a:ext cx="1093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6717E"/>
                </a:solidFill>
                <a:latin typeface="Aptos"/>
                <a:ea typeface="Aptos"/>
                <a:cs typeface="Aptos"/>
              </a:defRPr>
            </a:pPr>
            <a:r>
              <a:rPr sz="1350" b="0">
                <a:solidFill>
                  <a:srgbClr val="66717E"/>
                </a:solidFill>
                <a:latin typeface="Aptos"/>
                <a:ea typeface="Aptos"/>
                <a:cs typeface="Aptos"/>
              </a:rPr>
              <a:t>Maintain strategic flexibility and require a transaction price that clearly exceeds break-even</a:t>
            </a:r>
          </a:p>
        </p:txBody>
      </p:sp>
      <p:sp>
        <p:nvSpPr>
          <p:cNvPr id="3" name="">
            <a:extLst xmlns:a="http://schemas.openxmlformats.org/drawingml/2006/main">
              <a:ext uri="{FF2B5EF4-FFF2-40B4-BE49-F238E27FC236}">
                <a16:creationId xmlns:a16="http://schemas.microsoft.com/office/drawing/2014/main" id="{95ABDBCD-90CF-4F64-BA81-E9DBBEDAD210}"/>
              </a:ext>
            </a:extLst>
          </p:cNvPr>
          <p:cNvSpPr>
            <a:spLocks xmlns:a="http://schemas.openxmlformats.org/drawingml/2006/main" noGrp="1"/>
          </p:cNvSpPr>
          <p:nvPr/>
        </p:nvSpPr>
        <p:spPr>
          <a:xfrm xmlns:a="http://schemas.openxmlformats.org/drawingml/2006/main">
            <a:off x="609600" y="1200150"/>
            <a:ext cx="10972800" cy="28575"/>
          </a:xfrm>
          <a:prstGeom xmlns:a="http://schemas.openxmlformats.org/drawingml/2006/main" prst="rect">
            <a:avLst/>
          </a:prstGeom>
          <a:solidFill xmlns:a="http://schemas.openxmlformats.org/drawingml/2006/main">
            <a:srgbClr val="2F75B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9BBA365-EAC0-40C4-988A-FCEC08F9ACD1}"/>
              </a:ext>
            </a:extLst>
          </p:cNvPr>
          <p:cNvSpPr>
            <a:spLocks xmlns:a="http://schemas.openxmlformats.org/drawingml/2006/main" noGrp="1"/>
          </p:cNvSpPr>
          <p:nvPr/>
        </p:nvSpPr>
        <p:spPr>
          <a:xfrm xmlns:a="http://schemas.openxmlformats.org/drawingml/2006/main">
            <a:off x="685800" y="16192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17365D"/>
                </a:solidFill>
                <a:latin typeface="Aptos"/>
                <a:ea typeface="Aptos"/>
                <a:cs typeface="Aptos"/>
              </a:defRPr>
            </a:pPr>
            <a:r>
              <a:rPr sz="2100" b="1">
                <a:solidFill>
                  <a:srgbClr val="17365D"/>
                </a:solidFill>
                <a:latin typeface="Aptos"/>
                <a:ea typeface="Aptos"/>
                <a:cs typeface="Aptos"/>
              </a:rPr>
              <a:t>Recommended course</a:t>
            </a:r>
          </a:p>
        </p:txBody>
      </p:sp>
      <p:sp>
        <p:nvSpPr>
          <p:cNvPr id="5" name="">
            <a:extLst xmlns:a="http://schemas.openxmlformats.org/drawingml/2006/main">
              <a:ext uri="{FF2B5EF4-FFF2-40B4-BE49-F238E27FC236}">
                <a16:creationId xmlns:a16="http://schemas.microsoft.com/office/drawing/2014/main" id="{BF4CD31F-BE95-4DA7-BF4E-57062A9DA9C6}"/>
              </a:ext>
            </a:extLst>
          </p:cNvPr>
          <p:cNvSpPr>
            <a:spLocks xmlns:a="http://schemas.openxmlformats.org/drawingml/2006/main" noGrp="1"/>
          </p:cNvSpPr>
          <p:nvPr/>
        </p:nvSpPr>
        <p:spPr>
          <a:xfrm xmlns:a="http://schemas.openxmlformats.org/drawingml/2006/main">
            <a:off x="685800" y="2190750"/>
            <a:ext cx="4762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14300">
              <a:spcAft>
                <a:spcPts val="1000"/>
              </a:spcAft>
              <a:buChar char="•"/>
              <a:defRPr sz="1575">
                <a:solidFill>
                  <a:srgbClr val="20252B"/>
                </a:solidFill>
                <a:latin typeface="Aptos"/>
                <a:ea typeface="Aptos"/>
                <a:cs typeface="Aptos"/>
              </a:defRPr>
            </a:pPr>
            <a:r>
              <a:rPr sz="1575">
                <a:solidFill>
                  <a:srgbClr val="20252B"/>
                </a:solidFill>
                <a:latin typeface="Aptos"/>
                <a:ea typeface="Aptos"/>
                <a:cs typeface="Aptos"/>
              </a:rPr>
              <a:t>Continue operational improvement in Global Solutions.</a:t>
            </a:r>
          </a:p>
          <a:p xmlns:a="http://schemas.openxmlformats.org/drawingml/2006/main">
            <a:pPr marL="228600" indent="-114300">
              <a:spcAft>
                <a:spcPts val="1000"/>
              </a:spcAft>
              <a:buChar char="•"/>
              <a:defRPr sz="1575">
                <a:solidFill>
                  <a:srgbClr val="20252B"/>
                </a:solidFill>
                <a:latin typeface="Aptos"/>
                <a:ea typeface="Aptos"/>
                <a:cs typeface="Aptos"/>
              </a:defRPr>
            </a:pPr>
            <a:r>
              <a:rPr sz="1575">
                <a:solidFill>
                  <a:srgbClr val="20252B"/>
                </a:solidFill>
                <a:latin typeface="Aptos"/>
                <a:ea typeface="Aptos"/>
                <a:cs typeface="Aptos"/>
              </a:rPr>
              <a:t>Maintain a competitive sale process to test buyer appetite.</a:t>
            </a:r>
          </a:p>
          <a:p xmlns:a="http://schemas.openxmlformats.org/drawingml/2006/main">
            <a:pPr marL="228600" indent="-114300">
              <a:spcAft>
                <a:spcPts val="1000"/>
              </a:spcAft>
              <a:buChar char="•"/>
              <a:defRPr sz="1575">
                <a:solidFill>
                  <a:srgbClr val="20252B"/>
                </a:solidFill>
                <a:latin typeface="Aptos"/>
                <a:ea typeface="Aptos"/>
                <a:cs typeface="Aptos"/>
              </a:defRPr>
            </a:pPr>
            <a:r>
              <a:rPr sz="1575">
                <a:solidFill>
                  <a:srgbClr val="20252B"/>
                </a:solidFill>
                <a:latin typeface="Aptos"/>
                <a:ea typeface="Aptos"/>
                <a:cs typeface="Aptos"/>
              </a:rPr>
              <a:t>Reject a forced sale near 1.00x revenue.</a:t>
            </a:r>
          </a:p>
          <a:p xmlns:a="http://schemas.openxmlformats.org/drawingml/2006/main">
            <a:pPr marL="228600" indent="-114300">
              <a:spcAft>
                <a:spcPts val="1000"/>
              </a:spcAft>
              <a:buChar char="•"/>
              <a:defRPr sz="1575">
                <a:solidFill>
                  <a:srgbClr val="20252B"/>
                </a:solidFill>
                <a:latin typeface="Aptos"/>
                <a:ea typeface="Aptos"/>
                <a:cs typeface="Aptos"/>
              </a:defRPr>
            </a:pPr>
            <a:r>
              <a:rPr sz="1575">
                <a:solidFill>
                  <a:srgbClr val="20252B"/>
                </a:solidFill>
                <a:latin typeface="Aptos"/>
                <a:ea typeface="Aptos"/>
                <a:cs typeface="Aptos"/>
              </a:rPr>
              <a:t>Require at least approximately 1.25x and prefer a price near 1.50x.</a:t>
            </a:r>
          </a:p>
          <a:p xmlns:a="http://schemas.openxmlformats.org/drawingml/2006/main">
            <a:pPr marL="228600" indent="-114300">
              <a:spcAft>
                <a:spcPts val="1000"/>
              </a:spcAft>
              <a:buChar char="•"/>
              <a:defRPr sz="1575">
                <a:solidFill>
                  <a:srgbClr val="20252B"/>
                </a:solidFill>
                <a:latin typeface="Aptos"/>
                <a:ea typeface="Aptos"/>
                <a:cs typeface="Aptos"/>
              </a:defRPr>
            </a:pPr>
            <a:r>
              <a:rPr sz="1575">
                <a:solidFill>
                  <a:srgbClr val="20252B"/>
                </a:solidFill>
                <a:latin typeface="Aptos"/>
                <a:ea typeface="Aptos"/>
                <a:cs typeface="Aptos"/>
              </a:rPr>
              <a:t>Retain the business if bids remain below the required range.</a:t>
            </a:r>
          </a:p>
        </p:txBody>
      </p:sp>
      <p:sp>
        <p:nvSpPr>
          <p:cNvPr id="6" name="">
            <a:extLst xmlns:a="http://schemas.openxmlformats.org/drawingml/2006/main">
              <a:ext uri="{FF2B5EF4-FFF2-40B4-BE49-F238E27FC236}">
                <a16:creationId xmlns:a16="http://schemas.microsoft.com/office/drawing/2014/main" id="{FC9A66AF-8014-4557-AF92-6D9628039596}"/>
              </a:ext>
            </a:extLst>
          </p:cNvPr>
          <p:cNvSpPr>
            <a:spLocks xmlns:a="http://schemas.openxmlformats.org/drawingml/2006/main" noGrp="1"/>
          </p:cNvSpPr>
          <p:nvPr/>
        </p:nvSpPr>
        <p:spPr>
          <a:xfrm xmlns:a="http://schemas.openxmlformats.org/drawingml/2006/main">
            <a:off x="6572250" y="1619250"/>
            <a:ext cx="457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17365D"/>
                </a:solidFill>
                <a:latin typeface="Aptos"/>
                <a:ea typeface="Aptos"/>
                <a:cs typeface="Aptos"/>
              </a:defRPr>
            </a:pPr>
            <a:r>
              <a:rPr sz="2100" b="1">
                <a:solidFill>
                  <a:srgbClr val="17365D"/>
                </a:solidFill>
                <a:latin typeface="Aptos"/>
                <a:ea typeface="Aptos"/>
                <a:cs typeface="Aptos"/>
              </a:rPr>
              <a:t>Key risks</a:t>
            </a:r>
          </a:p>
        </p:txBody>
      </p:sp>
      <p:sp>
        <p:nvSpPr>
          <p:cNvPr id="7" name="">
            <a:extLst xmlns:a="http://schemas.openxmlformats.org/drawingml/2006/main">
              <a:ext uri="{FF2B5EF4-FFF2-40B4-BE49-F238E27FC236}">
                <a16:creationId xmlns:a16="http://schemas.microsoft.com/office/drawing/2014/main" id="{950D7360-5F39-4300-AB36-26B5885E52AD}"/>
              </a:ext>
            </a:extLst>
          </p:cNvPr>
          <p:cNvSpPr>
            <a:spLocks xmlns:a="http://schemas.openxmlformats.org/drawingml/2006/main" noGrp="1"/>
          </p:cNvSpPr>
          <p:nvPr/>
        </p:nvSpPr>
        <p:spPr>
          <a:xfrm xmlns:a="http://schemas.openxmlformats.org/drawingml/2006/main">
            <a:off x="6572250" y="2190750"/>
            <a:ext cx="4762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14300">
              <a:spcAft>
                <a:spcPts val="1000"/>
              </a:spcAft>
              <a:buChar char="•"/>
              <a:defRPr sz="1575">
                <a:solidFill>
                  <a:srgbClr val="20252B"/>
                </a:solidFill>
                <a:latin typeface="Aptos"/>
                <a:ea typeface="Aptos"/>
                <a:cs typeface="Aptos"/>
              </a:defRPr>
            </a:pPr>
            <a:r>
              <a:rPr sz="1575">
                <a:solidFill>
                  <a:srgbClr val="20252B"/>
                </a:solidFill>
                <a:latin typeface="Aptos"/>
                <a:ea typeface="Aptos"/>
                <a:cs typeface="Aptos"/>
              </a:rPr>
              <a:t>Terminal value contributes about 74% of base enterprise value.</a:t>
            </a:r>
          </a:p>
          <a:p xmlns:a="http://schemas.openxmlformats.org/drawingml/2006/main">
            <a:pPr marL="228600" indent="-114300">
              <a:spcAft>
                <a:spcPts val="1000"/>
              </a:spcAft>
              <a:buChar char="•"/>
              <a:defRPr sz="1575">
                <a:solidFill>
                  <a:srgbClr val="20252B"/>
                </a:solidFill>
                <a:latin typeface="Aptos"/>
                <a:ea typeface="Aptos"/>
                <a:cs typeface="Aptos"/>
              </a:defRPr>
            </a:pPr>
            <a:r>
              <a:rPr sz="1575">
                <a:solidFill>
                  <a:srgbClr val="20252B"/>
                </a:solidFill>
                <a:latin typeface="Aptos"/>
                <a:ea typeface="Aptos"/>
                <a:cs typeface="Aptos"/>
              </a:rPr>
              <a:t>US backlog, contract coverage and margins may weaken further.</a:t>
            </a:r>
          </a:p>
          <a:p xmlns:a="http://schemas.openxmlformats.org/drawingml/2006/main">
            <a:pPr marL="228600" indent="-114300">
              <a:spcAft>
                <a:spcPts val="1000"/>
              </a:spcAft>
              <a:buChar char="•"/>
              <a:defRPr sz="1575">
                <a:solidFill>
                  <a:srgbClr val="20252B"/>
                </a:solidFill>
                <a:latin typeface="Aptos"/>
                <a:ea typeface="Aptos"/>
                <a:cs typeface="Aptos"/>
              </a:defRPr>
            </a:pPr>
            <a:r>
              <a:rPr sz="1575">
                <a:solidFill>
                  <a:srgbClr val="20252B"/>
                </a:solidFill>
                <a:latin typeface="Aptos"/>
                <a:ea typeface="Aptos"/>
                <a:cs typeface="Aptos"/>
              </a:rPr>
              <a:t>Transaction leakage may exceed the assumed 10%.</a:t>
            </a:r>
          </a:p>
          <a:p xmlns:a="http://schemas.openxmlformats.org/drawingml/2006/main">
            <a:pPr marL="228600" indent="-114300">
              <a:spcAft>
                <a:spcPts val="1000"/>
              </a:spcAft>
              <a:buChar char="•"/>
              <a:defRPr sz="1575">
                <a:solidFill>
                  <a:srgbClr val="20252B"/>
                </a:solidFill>
                <a:latin typeface="Aptos"/>
                <a:ea typeface="Aptos"/>
                <a:cs typeface="Aptos"/>
              </a:defRPr>
            </a:pPr>
            <a:r>
              <a:rPr sz="1575">
                <a:solidFill>
                  <a:srgbClr val="20252B"/>
                </a:solidFill>
                <a:latin typeface="Aptos"/>
                <a:ea typeface="Aptos"/>
                <a:cs typeface="Aptos"/>
              </a:rPr>
              <a:t>Trading peers and precedents differ in mix, growth and accounting.</a:t>
            </a:r>
          </a:p>
          <a:p xmlns:a="http://schemas.openxmlformats.org/drawingml/2006/main">
            <a:pPr marL="228600" indent="-114300">
              <a:spcAft>
                <a:spcPts val="1000"/>
              </a:spcAft>
              <a:buChar char="•"/>
              <a:defRPr sz="1575">
                <a:solidFill>
                  <a:srgbClr val="20252B"/>
                </a:solidFill>
                <a:latin typeface="Aptos"/>
                <a:ea typeface="Aptos"/>
                <a:cs typeface="Aptos"/>
              </a:defRPr>
            </a:pPr>
            <a:r>
              <a:rPr sz="1575">
                <a:solidFill>
                  <a:srgbClr val="20252B"/>
                </a:solidFill>
                <a:latin typeface="Aptos"/>
                <a:ea typeface="Aptos"/>
                <a:cs typeface="Aptos"/>
              </a:rPr>
              <a:t>Market prices and WACC inputs need refreshing before use.</a:t>
            </a:r>
          </a:p>
        </p:txBody>
      </p:sp>
      <p:sp>
        <p:nvSpPr>
          <p:cNvPr id="8" name="">
            <a:extLst xmlns:a="http://schemas.openxmlformats.org/drawingml/2006/main">
              <a:ext uri="{FF2B5EF4-FFF2-40B4-BE49-F238E27FC236}">
                <a16:creationId xmlns:a16="http://schemas.microsoft.com/office/drawing/2014/main" id="{409DB7C4-7D82-4EC0-8941-C487CAAE3126}"/>
              </a:ext>
            </a:extLst>
          </p:cNvPr>
          <p:cNvSpPr>
            <a:spLocks xmlns:a="http://schemas.openxmlformats.org/drawingml/2006/main" noGrp="1"/>
          </p:cNvSpPr>
          <p:nvPr/>
        </p:nvSpPr>
        <p:spPr>
          <a:xfrm xmlns:a="http://schemas.openxmlformats.org/drawingml/2006/main">
            <a:off x="685800" y="528637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17365D"/>
                </a:solidFill>
                <a:latin typeface="Aptos"/>
                <a:ea typeface="Aptos"/>
                <a:cs typeface="Aptos"/>
              </a:defRPr>
            </a:pPr>
            <a:r>
              <a:rPr sz="1350" b="1">
                <a:solidFill>
                  <a:srgbClr val="17365D"/>
                </a:solidFill>
                <a:latin typeface="Aptos"/>
                <a:ea typeface="Aptos"/>
                <a:cs typeface="Aptos"/>
              </a:rPr>
              <a:t>Interview conclusion</a:t>
            </a:r>
          </a:p>
        </p:txBody>
      </p:sp>
      <p:sp>
        <p:nvSpPr>
          <p:cNvPr id="9" name="">
            <a:extLst xmlns:a="http://schemas.openxmlformats.org/drawingml/2006/main">
              <a:ext uri="{FF2B5EF4-FFF2-40B4-BE49-F238E27FC236}">
                <a16:creationId xmlns:a16="http://schemas.microsoft.com/office/drawing/2014/main" id="{A91EF73C-2343-4C0C-82D7-D5115C311ECE}"/>
              </a:ext>
            </a:extLst>
          </p:cNvPr>
          <p:cNvSpPr>
            <a:spLocks xmlns:a="http://schemas.openxmlformats.org/drawingml/2006/main" noGrp="1"/>
          </p:cNvSpPr>
          <p:nvPr/>
        </p:nvSpPr>
        <p:spPr>
          <a:xfrm xmlns:a="http://schemas.openxmlformats.org/drawingml/2006/main">
            <a:off x="2619375" y="5191125"/>
            <a:ext cx="8715375" cy="800100"/>
          </a:xfrm>
          <a:prstGeom xmlns:a="http://schemas.openxmlformats.org/drawingml/2006/main" prst="rect">
            <a:avLst/>
          </a:prstGeom>
          <a:solidFill xmlns:a="http://schemas.openxmlformats.org/drawingml/2006/main">
            <a:srgbClr val="EAF2F8"/>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a:solidFill>
                  <a:srgbClr val="20252B"/>
                </a:solidFill>
                <a:latin typeface="Aptos"/>
                <a:ea typeface="Aptos"/>
                <a:cs typeface="Aptos"/>
              </a:defRPr>
            </a:pPr>
            <a:r>
              <a:rPr sz="1425" b="0">
                <a:solidFill>
                  <a:srgbClr val="20252B"/>
                </a:solidFill>
                <a:latin typeface="Aptos"/>
                <a:ea typeface="Aptos"/>
                <a:cs typeface="Aptos"/>
              </a:rPr>
              <a:t>I triangulated the valuation to a £5.29–£5.52 core range, then tested whether a US sale would beat the £5.51 retain case. It does only above approximately 1.13x revenue, so I would preserve both options and sell only at a price with a genuine execution-risk buffer.</a:t>
            </a:r>
          </a:p>
        </p:txBody>
      </p:sp>
      <p:sp>
        <p:nvSpPr>
          <p:cNvPr id="10" name="">
            <a:extLst xmlns:a="http://schemas.openxmlformats.org/drawingml/2006/main">
              <a:ext uri="{FF2B5EF4-FFF2-40B4-BE49-F238E27FC236}">
                <a16:creationId xmlns:a16="http://schemas.microsoft.com/office/drawing/2014/main" id="{1A57C240-81C5-41FE-9F72-F4447EE208D2}"/>
              </a:ext>
            </a:extLst>
          </p:cNvPr>
          <p:cNvSpPr>
            <a:spLocks xmlns:a="http://schemas.openxmlformats.org/drawingml/2006/main" noGrp="1"/>
          </p:cNvSpPr>
          <p:nvPr/>
        </p:nvSpPr>
        <p:spPr>
          <a:xfrm xmlns:a="http://schemas.openxmlformats.org/drawingml/2006/main">
            <a:off x="609600" y="651510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66717E"/>
                </a:solidFill>
                <a:latin typeface="Aptos"/>
                <a:ea typeface="Aptos"/>
                <a:cs typeface="Aptos"/>
              </a:defRPr>
            </a:pPr>
            <a:r>
              <a:rPr sz="900" b="0">
                <a:solidFill>
                  <a:srgbClr val="66717E"/>
                </a:solidFill>
                <a:latin typeface="Aptos"/>
                <a:ea typeface="Aptos"/>
                <a:cs typeface="Aptos"/>
              </a:rPr>
              <a:t>QinetiQ valuation and strategic review</a:t>
            </a:r>
          </a:p>
        </p:txBody>
      </p:sp>
      <p:sp>
        <p:nvSpPr>
          <p:cNvPr id="11" name="">
            <a:extLst xmlns:a="http://schemas.openxmlformats.org/drawingml/2006/main">
              <a:ext uri="{FF2B5EF4-FFF2-40B4-BE49-F238E27FC236}">
                <a16:creationId xmlns:a16="http://schemas.microsoft.com/office/drawing/2014/main" id="{DA1A192D-6284-46ED-BD66-3EE774CB121C}"/>
              </a:ext>
            </a:extLst>
          </p:cNvPr>
          <p:cNvSpPr>
            <a:spLocks xmlns:a="http://schemas.openxmlformats.org/drawingml/2006/main" noGrp="1"/>
          </p:cNvSpPr>
          <p:nvPr/>
        </p:nvSpPr>
        <p:spPr>
          <a:xfrm xmlns:a="http://schemas.openxmlformats.org/drawingml/2006/main">
            <a:off x="11029950" y="6515100"/>
            <a:ext cx="552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66717E"/>
                </a:solidFill>
                <a:latin typeface="Aptos"/>
                <a:ea typeface="Aptos"/>
                <a:cs typeface="Aptos"/>
              </a:defRPr>
            </a:pPr>
            <a:r>
              <a:rPr sz="900" b="0">
                <a:solidFill>
                  <a:srgbClr val="66717E"/>
                </a:solidFill>
                <a:latin typeface="Aptos"/>
                <a:ea typeface="Aptos"/>
                <a:cs typeface="Aptos"/>
              </a:rPr>
              <a:t>10</a:t>
            </a:r>
          </a:p>
        </p:txBody>
      </p:sp>
    </p:spTree>
    <p:extLst>
      <p:ext uri="{BB962C8B-B14F-4D97-AF65-F5344CB8AC3E}">
        <p14:creationId xmlns:p14="http://schemas.microsoft.com/office/powerpoint/2010/main" val="5723395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2026-09-16T19:48:19.5890000Z</dcterms:created>
  <dcterms:modified xsi:type="dcterms:W3CDTF">2026-09-16T19:48:19.5890000Z</dcterms:modified>
</coreProperties>
</file>